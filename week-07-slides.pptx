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219456"/>
          </a:xfrm>
          <a:prstGeom prst="rect">
            <a:avLst/>
          </a:prstGeom>
          <a:solidFill>
            <a:srgbClr val="D96C4B"/>
          </a:solidFill>
          <a:ln w="12700">
            <a:solidFill>
              <a:srgbClr val="D96C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4114800"/>
            <a:ext cx="7955280" cy="36576"/>
          </a:xfrm>
          <a:prstGeom prst="rect">
            <a:avLst/>
          </a:prstGeom>
          <a:solidFill>
            <a:srgbClr val="9DD5D8"/>
          </a:solidFill>
          <a:ln w="12700">
            <a:solidFill>
              <a:srgbClr val="9DD5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500" kern="0" dirty="0">
                <a:solidFill>
                  <a:srgbClr val="9DD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8046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Scalability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94360" y="290779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D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Center to Global Cloud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3703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D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Software Projects - DePaul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7 - Application Scalability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Big Idea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626864"/>
            <a:ext cx="8229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091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22529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is not only "make the server bigger."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94360" y="16276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ability to keep the application useful as users, data, traffic, geography, and team complexity grow.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94360" y="251460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EAF3F7"/>
          </a:solidFill>
          <a:ln w="7620">
            <a:solidFill>
              <a:srgbClr val="D5DE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514600"/>
            <a:ext cx="109728" cy="1051560"/>
          </a:xfrm>
          <a:prstGeom prst="rect">
            <a:avLst/>
          </a:prstGeom>
          <a:solidFill>
            <a:srgbClr val="2B6F77"/>
          </a:solidFill>
          <a:ln w="12700">
            <a:solidFill>
              <a:srgbClr val="2B6F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3017520"/>
            <a:ext cx="1463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app handle more work?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2651760" y="251460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EAF7EF"/>
          </a:solidFill>
          <a:ln w="7620">
            <a:solidFill>
              <a:srgbClr val="D5DE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51760" y="2514600"/>
            <a:ext cx="109728" cy="1051560"/>
          </a:xfrm>
          <a:prstGeom prst="rect">
            <a:avLst/>
          </a:prstGeom>
          <a:solidFill>
            <a:srgbClr val="2F7D55"/>
          </a:solidFill>
          <a:ln w="12700">
            <a:solidFill>
              <a:srgbClr val="2F7D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2880360" y="3017520"/>
            <a:ext cx="1463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state stay correct and fast?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4709160" y="251460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FFF8E7"/>
          </a:solidFill>
          <a:ln w="7620">
            <a:solidFill>
              <a:srgbClr val="D5DE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514600"/>
            <a:ext cx="109728" cy="1051560"/>
          </a:xfrm>
          <a:prstGeom prst="rect">
            <a:avLst/>
          </a:prstGeom>
          <a:solidFill>
            <a:srgbClr val="C58B2B"/>
          </a:solidFill>
          <a:ln w="12700">
            <a:solidFill>
              <a:srgbClr val="C58B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Geography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937760" y="3017520"/>
            <a:ext cx="1463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distant users get a good experience?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766560" y="251460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FFF1EA"/>
          </a:solidFill>
          <a:ln w="7620">
            <a:solidFill>
              <a:srgbClr val="D5DE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0" y="2514600"/>
            <a:ext cx="109728" cy="1051560"/>
          </a:xfrm>
          <a:prstGeom prst="rect">
            <a:avLst/>
          </a:prstGeom>
          <a:solidFill>
            <a:srgbClr val="D96C4B"/>
          </a:solidFill>
          <a:ln w="12700">
            <a:solidFill>
              <a:srgbClr val="D96C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995160" y="3017520"/>
            <a:ext cx="1463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team see, secure, and repeat it?</a:t>
            </a:r>
            <a:endParaRPr lang="en-US" sz="12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7 - Application Scalability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Goals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626864"/>
            <a:ext cx="8229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091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298448"/>
            <a:ext cx="7863840" cy="2926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6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scaling changes from data center to cloud</a:t>
            </a:r>
            <a:endParaRPr lang="en-US" sz="1620" dirty="0"/>
          </a:p>
          <a:p>
            <a:pPr marL="342900" indent="-342900">
              <a:buSzPct val="100000"/>
              <a:buChar char="•"/>
            </a:pPr>
            <a:r>
              <a:rPr lang="en-US" sz="16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regional, multi-regional, and global application patterns</a:t>
            </a:r>
            <a:endParaRPr lang="en-US" sz="1620" dirty="0"/>
          </a:p>
          <a:p>
            <a:pPr marL="342900" indent="-342900">
              <a:buSzPct val="100000"/>
              <a:buChar char="•"/>
            </a:pPr>
            <a:r>
              <a:rPr lang="en-US" sz="16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scaling versus horizontal scaling</a:t>
            </a:r>
            <a:endParaRPr lang="en-US" sz="1620" dirty="0"/>
          </a:p>
          <a:p>
            <a:pPr marL="342900" indent="-342900">
              <a:buSzPct val="100000"/>
              <a:buChar char="•"/>
            </a:pPr>
            <a:r>
              <a:rPr lang="en-US" sz="16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Containers, VMs, and PaaS tradeoffs</a:t>
            </a:r>
            <a:endParaRPr lang="en-US" sz="1620" dirty="0"/>
          </a:p>
          <a:p>
            <a:pPr marL="342900" indent="-342900">
              <a:buSzPct val="100000"/>
              <a:buChar char="•"/>
            </a:pPr>
            <a:r>
              <a:rPr lang="en-US" sz="16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observability becomes mandatory as systems scale</a:t>
            </a:r>
            <a:endParaRPr lang="en-US" sz="1620" dirty="0"/>
          </a:p>
          <a:p>
            <a:pPr marL="342900" indent="-342900">
              <a:buSzPct val="100000"/>
              <a:buChar char="•"/>
            </a:pPr>
            <a:r>
              <a:rPr lang="en-US" sz="16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security changes when one app becomes many moving parts</a:t>
            </a:r>
            <a:endParaRPr lang="en-US" sz="16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" cy="5143500"/>
          </a:xfrm>
          <a:prstGeom prst="rect">
            <a:avLst/>
          </a:prstGeom>
          <a:solidFill>
            <a:srgbClr val="D96C4B"/>
          </a:solidFill>
          <a:ln w="12700">
            <a:solidFill>
              <a:srgbClr val="D96C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325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9DD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7955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Data Center to Cloud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44988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4988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7 - Application Scalability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Data Center Mental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626864"/>
            <a:ext cx="8229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091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43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1704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traditional data center, capacity is planned ahead of time.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2331720" cy="475488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764792"/>
            <a:ext cx="2203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1160" dirty="0"/>
          </a:p>
        </p:txBody>
      </p:sp>
      <p:sp>
        <p:nvSpPr>
          <p:cNvPr id="10" name="Shape 8"/>
          <p:cNvSpPr/>
          <p:nvPr/>
        </p:nvSpPr>
        <p:spPr>
          <a:xfrm>
            <a:off x="2971800" y="1691640"/>
            <a:ext cx="5532120" cy="475488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35808" y="1764792"/>
            <a:ext cx="5404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160" dirty="0"/>
          </a:p>
        </p:txBody>
      </p:sp>
      <p:sp>
        <p:nvSpPr>
          <p:cNvPr id="12" name="Shape 10"/>
          <p:cNvSpPr/>
          <p:nvPr/>
        </p:nvSpPr>
        <p:spPr>
          <a:xfrm>
            <a:off x="640080" y="2167128"/>
            <a:ext cx="2331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240280"/>
            <a:ext cx="2203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lead time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2971800" y="2167128"/>
            <a:ext cx="5532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35808" y="2240280"/>
            <a:ext cx="5404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must be bought, shipped, racked, and configured</a:t>
            </a:r>
            <a:endParaRPr lang="en-US" sz="1160" dirty="0"/>
          </a:p>
        </p:txBody>
      </p:sp>
      <p:sp>
        <p:nvSpPr>
          <p:cNvPr id="16" name="Shape 14"/>
          <p:cNvSpPr/>
          <p:nvPr/>
        </p:nvSpPr>
        <p:spPr>
          <a:xfrm>
            <a:off x="640080" y="2642616"/>
            <a:ext cx="2331720" cy="475488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715768"/>
            <a:ext cx="2203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capacity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2971800" y="2642616"/>
            <a:ext cx="5532120" cy="475488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35808" y="2715768"/>
            <a:ext cx="5404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 for peak even during quiet periods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640080" y="3118104"/>
            <a:ext cx="2331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3191256"/>
            <a:ext cx="2203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operations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2971800" y="3118104"/>
            <a:ext cx="5532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35808" y="3191256"/>
            <a:ext cx="5404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Networking, patching, backups, and recovery need staff process</a:t>
            </a: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640080" y="3593592"/>
            <a:ext cx="2331720" cy="475488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" y="3666744"/>
            <a:ext cx="2203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location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2971800" y="3593592"/>
            <a:ext cx="5532120" cy="475488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35808" y="3666744"/>
            <a:ext cx="5404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far away experience more latency</a:t>
            </a:r>
            <a:endParaRPr lang="en-US" sz="1160" dirty="0"/>
          </a:p>
        </p:txBody>
      </p:sp>
      <p:sp>
        <p:nvSpPr>
          <p:cNvPr id="28" name="Text 26"/>
          <p:cNvSpPr/>
          <p:nvPr/>
        </p:nvSpPr>
        <p:spPr>
          <a:xfrm>
            <a:off x="685800" y="40782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6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centers can scale, but scaling is slower and more operationally heavy.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7 - Application Scalability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Cloud Mental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626864"/>
            <a:ext cx="8229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091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43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1704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platforms turn infrastructure into an API.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3657600" cy="475488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764792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Habit</a:t>
            </a:r>
            <a:endParaRPr lang="en-US" sz="116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4206240" cy="475488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61688" y="1764792"/>
            <a:ext cx="4078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Habit</a:t>
            </a:r>
            <a:endParaRPr lang="en-US" sz="1160" dirty="0"/>
          </a:p>
        </p:txBody>
      </p:sp>
      <p:sp>
        <p:nvSpPr>
          <p:cNvPr id="12" name="Shape 10"/>
          <p:cNvSpPr/>
          <p:nvPr/>
        </p:nvSpPr>
        <p:spPr>
          <a:xfrm>
            <a:off x="640080" y="2167128"/>
            <a:ext cx="3657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24028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servers before demand arrives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4297680" y="2167128"/>
            <a:ext cx="4206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61688" y="2240280"/>
            <a:ext cx="4078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capacity when demand appears</a:t>
            </a:r>
            <a:endParaRPr lang="en-US" sz="1160" dirty="0"/>
          </a:p>
        </p:txBody>
      </p:sp>
      <p:sp>
        <p:nvSpPr>
          <p:cNvPr id="16" name="Shape 14"/>
          <p:cNvSpPr/>
          <p:nvPr/>
        </p:nvSpPr>
        <p:spPr>
          <a:xfrm>
            <a:off x="640080" y="2642616"/>
            <a:ext cx="3657600" cy="475488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715768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machines by hand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4297680" y="2642616"/>
            <a:ext cx="4206240" cy="475488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61688" y="2715768"/>
            <a:ext cx="4078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resources in files and automation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640080" y="3118104"/>
            <a:ext cx="3657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3191256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environments as special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4297680" y="3118104"/>
            <a:ext cx="4206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61688" y="3191256"/>
            <a:ext cx="4078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 environments from repeatable steps</a:t>
            </a: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640080" y="3593592"/>
            <a:ext cx="3657600" cy="475488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" y="3666744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servers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4297680" y="3593592"/>
            <a:ext cx="4206240" cy="475488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61688" y="3666744"/>
            <a:ext cx="4078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services, user experience, and cost</a:t>
            </a:r>
            <a:endParaRPr lang="en-US" sz="1160" dirty="0"/>
          </a:p>
        </p:txBody>
      </p:sp>
      <p:sp>
        <p:nvSpPr>
          <p:cNvPr id="28" name="Text 26"/>
          <p:cNvSpPr/>
          <p:nvPr/>
        </p:nvSpPr>
        <p:spPr>
          <a:xfrm>
            <a:off x="685800" y="40782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6F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cloud changes which architecture decisions matter most.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7 - Application Scalability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Scalability Ladder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626864"/>
            <a:ext cx="8229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091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43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35608" y="141732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EAF3F7"/>
          </a:solidFill>
          <a:ln w="7620">
            <a:solidFill>
              <a:srgbClr val="D5DE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08760" y="1581912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160" dirty="0"/>
          </a:p>
        </p:txBody>
      </p:sp>
      <p:sp>
        <p:nvSpPr>
          <p:cNvPr id="9" name="Text 7"/>
          <p:cNvSpPr/>
          <p:nvPr/>
        </p:nvSpPr>
        <p:spPr>
          <a:xfrm>
            <a:off x="2862072" y="1700784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54096" y="141732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EAF7EF"/>
          </a:solidFill>
          <a:ln w="7620">
            <a:solidFill>
              <a:srgbClr val="D5DE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27248" y="1581912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4480560" y="1700784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72584" y="141732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FF8E7"/>
          </a:solidFill>
          <a:ln w="7620">
            <a:solidFill>
              <a:srgbClr val="D5DE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45736" y="1581912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Multi-regional</a:t>
            </a:r>
            <a:endParaRPr lang="en-US" sz="1160" dirty="0"/>
          </a:p>
        </p:txBody>
      </p:sp>
      <p:sp>
        <p:nvSpPr>
          <p:cNvPr id="15" name="Text 13"/>
          <p:cNvSpPr/>
          <p:nvPr/>
        </p:nvSpPr>
        <p:spPr>
          <a:xfrm>
            <a:off x="6099048" y="1700784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91072" y="141732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FF1EA"/>
          </a:solidFill>
          <a:ln w="7620">
            <a:solidFill>
              <a:srgbClr val="D5DE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64224" y="1581912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502920" y="2606040"/>
            <a:ext cx="1417320" cy="347472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679192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1920240" y="2606040"/>
            <a:ext cx="3657600" cy="347472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84248" y="2679192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Shape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5577840" y="2606040"/>
            <a:ext cx="3063240" cy="347472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41848" y="2679192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Problem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502920" y="2953512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026664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1920240" y="2953512"/>
            <a:ext cx="3657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84248" y="3026664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developer machine or one small server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5577840" y="2953512"/>
            <a:ext cx="3063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41848" y="3026664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setup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502920" y="3300984"/>
            <a:ext cx="1417320" cy="347472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3374136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1920240" y="3300984"/>
            <a:ext cx="3657600" cy="347472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84248" y="3374136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cloud region, managed database, load balancer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5577840" y="3300984"/>
            <a:ext cx="3063240" cy="347472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41848" y="3374136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and failover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502920" y="3648456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3721608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Multi-regional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1920240" y="3648456"/>
            <a:ext cx="3657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84248" y="3721608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 more than one region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5577840" y="3648456"/>
            <a:ext cx="3063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41848" y="3721608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 and deployment coordination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502920" y="3995928"/>
            <a:ext cx="1417320" cy="347472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4069080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1920240" y="3995928"/>
            <a:ext cx="3657600" cy="347472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84248" y="4069080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routed worldwide through edge networks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5577840" y="3995928"/>
            <a:ext cx="3063240" cy="347472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41848" y="4069080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compliance, abuse, and cost control</a:t>
            </a:r>
            <a:endParaRPr lang="en-US" sz="9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7 - Application Scalability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Scalability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626864"/>
            <a:ext cx="8229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091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43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3017520" cy="2331720"/>
          </a:xfrm>
          <a:prstGeom prst="roundRect">
            <a:avLst>
              <a:gd name="adj" fmla="val 3137"/>
            </a:avLst>
          </a:prstGeom>
          <a:solidFill>
            <a:srgbClr val="EAF3F7"/>
          </a:solidFill>
          <a:ln w="7620">
            <a:solidFill>
              <a:srgbClr val="D5DE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34440"/>
            <a:ext cx="109728" cy="2331720"/>
          </a:xfrm>
          <a:prstGeom prst="rect">
            <a:avLst/>
          </a:prstGeom>
          <a:solidFill>
            <a:srgbClr val="2B6F77"/>
          </a:solidFill>
          <a:ln w="12700">
            <a:solidFill>
              <a:srgbClr val="2B6F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1737360"/>
            <a:ext cx="26517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can grow on one machine or one small deployment without architectural drama.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420624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Good local-scale habits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343400" y="1691640"/>
            <a:ext cx="388620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8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in environment variables</a:t>
            </a:r>
            <a:endParaRPr lang="en-US" sz="1480" dirty="0"/>
          </a:p>
          <a:p>
            <a:pPr marL="342900" indent="-342900">
              <a:buSzPct val="100000"/>
              <a:buChar char="•"/>
            </a:pPr>
            <a:r>
              <a:rPr lang="en-US" sz="148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database for important state</a:t>
            </a:r>
            <a:endParaRPr lang="en-US" sz="1480" dirty="0"/>
          </a:p>
          <a:p>
            <a:pPr marL="342900" indent="-342900">
              <a:buSzPct val="100000"/>
              <a:buChar char="•"/>
            </a:pPr>
            <a:r>
              <a:rPr lang="en-US" sz="148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setup scripts or Docker Compose</a:t>
            </a:r>
            <a:endParaRPr lang="en-US" sz="1480" dirty="0"/>
          </a:p>
          <a:p>
            <a:pPr marL="342900" indent="-342900">
              <a:buSzPct val="100000"/>
              <a:buChar char="•"/>
            </a:pPr>
            <a:r>
              <a:rPr lang="en-US" sz="148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hidden state on one laptop</a:t>
            </a:r>
            <a:endParaRPr lang="en-US" sz="1480" dirty="0"/>
          </a:p>
          <a:p>
            <a:pPr marL="342900" indent="-342900">
              <a:buSzPct val="100000"/>
              <a:buChar char="•"/>
            </a:pPr>
            <a:r>
              <a:rPr lang="en-US" sz="148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teammate commands</a:t>
            </a:r>
            <a:endParaRPr lang="en-US" sz="1480" dirty="0"/>
          </a:p>
        </p:txBody>
      </p:sp>
      <p:sp>
        <p:nvSpPr>
          <p:cNvPr id="13" name="Text 11"/>
          <p:cNvSpPr/>
          <p:nvPr/>
        </p:nvSpPr>
        <p:spPr>
          <a:xfrm>
            <a:off x="822960" y="409651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6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 teams, this is the first scalability milestone.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7 - Application Scalability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Regional Scalability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626864"/>
            <a:ext cx="8229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091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43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3017520" cy="2331720"/>
          </a:xfrm>
          <a:prstGeom prst="roundRect">
            <a:avLst>
              <a:gd name="adj" fmla="val 3137"/>
            </a:avLst>
          </a:prstGeom>
          <a:solidFill>
            <a:srgbClr val="EAF7EF"/>
          </a:solidFill>
          <a:ln w="7620">
            <a:solidFill>
              <a:srgbClr val="D5DE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34440"/>
            <a:ext cx="109728" cy="2331720"/>
          </a:xfrm>
          <a:prstGeom prst="rect">
            <a:avLst/>
          </a:prstGeom>
          <a:solidFill>
            <a:srgbClr val="2F7D55"/>
          </a:solidFill>
          <a:ln w="12700">
            <a:solidFill>
              <a:srgbClr val="2F7D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1737360"/>
            <a:ext cx="26517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serves users reliably from one cloud region with managed services around it.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420624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components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343400" y="1664208"/>
            <a:ext cx="3886200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 or PaaS router</a:t>
            </a:r>
            <a:endParaRPr lang="en-US" sz="1420" dirty="0"/>
          </a:p>
          <a:p>
            <a:pPr marL="342900" indent="-342900">
              <a:buSzPct val="100000"/>
              <a:buChar char="•"/>
            </a:pPr>
            <a:r>
              <a:rPr lang="en-US" sz="14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app instances when needed</a:t>
            </a:r>
            <a:endParaRPr lang="en-US" sz="1420" dirty="0"/>
          </a:p>
          <a:p>
            <a:pPr marL="342900" indent="-342900">
              <a:buSzPct val="100000"/>
              <a:buChar char="•"/>
            </a:pPr>
            <a:r>
              <a:rPr lang="en-US" sz="14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relational database</a:t>
            </a:r>
            <a:endParaRPr lang="en-US" sz="1420" dirty="0"/>
          </a:p>
          <a:p>
            <a:pPr marL="342900" indent="-342900">
              <a:buSzPct val="100000"/>
              <a:buChar char="•"/>
            </a:pPr>
            <a:r>
              <a:rPr lang="en-US" sz="14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for uploads</a:t>
            </a:r>
            <a:endParaRPr lang="en-US" sz="1420" dirty="0"/>
          </a:p>
          <a:p>
            <a:pPr marL="342900" indent="-342900">
              <a:buSzPct val="100000"/>
              <a:buChar char="•"/>
            </a:pPr>
            <a:r>
              <a:rPr lang="en-US" sz="14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 and uptime monitoring</a:t>
            </a:r>
            <a:endParaRPr lang="en-US" sz="1420" dirty="0"/>
          </a:p>
          <a:p>
            <a:pPr marL="342900" indent="-342900">
              <a:buSzPct val="100000"/>
              <a:buChar char="•"/>
            </a:pPr>
            <a:r>
              <a:rPr lang="en-US" sz="14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deployment workflow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822960" y="409651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7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practical target for most CSC 394 projects.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7 - Application Scalability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Multi-Regional Scalability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626864"/>
            <a:ext cx="8229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091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43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3017520" cy="2331720"/>
          </a:xfrm>
          <a:prstGeom prst="roundRect">
            <a:avLst>
              <a:gd name="adj" fmla="val 3137"/>
            </a:avLst>
          </a:prstGeom>
          <a:solidFill>
            <a:srgbClr val="FFF8E7"/>
          </a:solidFill>
          <a:ln w="7620">
            <a:solidFill>
              <a:srgbClr val="D5DE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34440"/>
            <a:ext cx="109728" cy="2331720"/>
          </a:xfrm>
          <a:prstGeom prst="rect">
            <a:avLst/>
          </a:prstGeom>
          <a:solidFill>
            <a:srgbClr val="C58B2B"/>
          </a:solidFill>
          <a:ln w="12700">
            <a:solidFill>
              <a:srgbClr val="C58B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1737360"/>
            <a:ext cx="26517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runs in more than one cloud region and must survive partial regional failure.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406908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architectural questions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206240" y="1691640"/>
            <a:ext cx="4023360" cy="1965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4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 handles each user?</a:t>
            </a:r>
            <a:endParaRPr lang="en-US" sz="1440" dirty="0"/>
          </a:p>
          <a:p>
            <a:pPr marL="342900" indent="-342900">
              <a:buSzPct val="100000"/>
              <a:buChar char="•"/>
            </a:pPr>
            <a:r>
              <a:rPr lang="en-US" sz="144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data active-active or primary-replica?</a:t>
            </a:r>
            <a:endParaRPr lang="en-US" sz="1440" dirty="0"/>
          </a:p>
          <a:p>
            <a:pPr marL="342900" indent="-342900">
              <a:buSzPct val="100000"/>
              <a:buChar char="•"/>
            </a:pPr>
            <a:r>
              <a:rPr lang="en-US" sz="144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one region is down?</a:t>
            </a:r>
            <a:endParaRPr lang="en-US" sz="1440" dirty="0"/>
          </a:p>
          <a:p>
            <a:pPr marL="342900" indent="-342900">
              <a:buSzPct val="100000"/>
              <a:buChar char="•"/>
            </a:pPr>
            <a:r>
              <a:rPr lang="en-US" sz="144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deployments roll out safely?</a:t>
            </a:r>
            <a:endParaRPr lang="en-US" sz="1440" dirty="0"/>
          </a:p>
          <a:p>
            <a:pPr marL="342900" indent="-342900">
              <a:buSzPct val="100000"/>
              <a:buChar char="•"/>
            </a:pPr>
            <a:r>
              <a:rPr lang="en-US" sz="144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alerts represent the whole system?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822960" y="409651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58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is where "just add another server" stops being enough.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7 - Application Scalability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Scalability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626864"/>
            <a:ext cx="8229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091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43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EAF3F7"/>
          </a:solidFill>
          <a:ln w="7620">
            <a:solidFill>
              <a:srgbClr val="D5DE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34440"/>
            <a:ext cx="109728" cy="1188720"/>
          </a:xfrm>
          <a:prstGeom prst="rect">
            <a:avLst/>
          </a:prstGeom>
          <a:solidFill>
            <a:srgbClr val="2B6F77"/>
          </a:solidFill>
          <a:ln w="12700">
            <a:solidFill>
              <a:srgbClr val="2B6F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371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173736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CDN, edge cache, bot controls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3337560" y="123444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EAF7EF"/>
          </a:solidFill>
          <a:ln w="7620">
            <a:solidFill>
              <a:srgbClr val="D5DE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234440"/>
            <a:ext cx="109728" cy="1188720"/>
          </a:xfrm>
          <a:prstGeom prst="rect">
            <a:avLst/>
          </a:prstGeom>
          <a:solidFill>
            <a:srgbClr val="2F7D55"/>
          </a:solidFill>
          <a:ln w="12700">
            <a:solidFill>
              <a:srgbClr val="2F7D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1371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66160" y="173736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Geo-aware traffic steering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080760" y="123444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FFF8E7"/>
          </a:solidFill>
          <a:ln w="7620">
            <a:solidFill>
              <a:srgbClr val="D5DE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234440"/>
            <a:ext cx="109728" cy="1188720"/>
          </a:xfrm>
          <a:prstGeom prst="rect">
            <a:avLst/>
          </a:prstGeom>
          <a:solidFill>
            <a:srgbClr val="C58B2B"/>
          </a:solidFill>
          <a:ln w="12700">
            <a:solidFill>
              <a:srgbClr val="C58B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371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309360" y="173736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and locality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94360" y="274320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FFF1EA"/>
          </a:solidFill>
          <a:ln w="7620">
            <a:solidFill>
              <a:srgbClr val="D5DE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2743200"/>
            <a:ext cx="109728" cy="1188720"/>
          </a:xfrm>
          <a:prstGeom prst="rect">
            <a:avLst/>
          </a:prstGeom>
          <a:solidFill>
            <a:srgbClr val="D96C4B"/>
          </a:solidFill>
          <a:ln w="12700">
            <a:solidFill>
              <a:srgbClr val="D96C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2880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22960" y="32461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boundaries and audits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3337560" y="274320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EAF3F7"/>
          </a:solidFill>
          <a:ln w="7620">
            <a:solidFill>
              <a:srgbClr val="D5DE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37560" y="2743200"/>
            <a:ext cx="109728" cy="1188720"/>
          </a:xfrm>
          <a:prstGeom prst="rect">
            <a:avLst/>
          </a:prstGeom>
          <a:solidFill>
            <a:srgbClr val="2B6F77"/>
          </a:solidFill>
          <a:ln w="12700">
            <a:solidFill>
              <a:srgbClr val="2B6F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2880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3566160" y="32461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 detection and rate limits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6080760" y="274320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EAF7EF"/>
          </a:solidFill>
          <a:ln w="7620">
            <a:solidFill>
              <a:srgbClr val="D5DE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0760" y="2743200"/>
            <a:ext cx="109728" cy="1188720"/>
          </a:xfrm>
          <a:prstGeom prst="rect">
            <a:avLst/>
          </a:prstGeom>
          <a:solidFill>
            <a:srgbClr val="2F7D55"/>
          </a:solidFill>
          <a:ln w="12700">
            <a:solidFill>
              <a:srgbClr val="2F7D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2880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309360" y="32461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Whole-system logs and alerts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822960" y="4187952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D96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hardest part is usually data, security, and operations.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7 - Application Scalability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Gets Harder at Each Step?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626864"/>
            <a:ext cx="8229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091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2880360" cy="566928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399032"/>
            <a:ext cx="2752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66160" y="1325880"/>
            <a:ext cx="4892040" cy="566928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0168" y="1399032"/>
            <a:ext cx="4764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Architect's New Difficulty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1892808"/>
            <a:ext cx="2880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965960"/>
            <a:ext cx="2752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to regional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66160" y="1892808"/>
            <a:ext cx="4892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0168" y="1965960"/>
            <a:ext cx="4764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Externalize state and automate setup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2459736"/>
            <a:ext cx="2880360" cy="566928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532888"/>
            <a:ext cx="2752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to multi-regional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566160" y="2459736"/>
            <a:ext cx="4892040" cy="566928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0168" y="2532888"/>
            <a:ext cx="4764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failover, replication, and partial outages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3026664"/>
            <a:ext cx="2880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099816"/>
            <a:ext cx="2752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Multi-regional to global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566160" y="3026664"/>
            <a:ext cx="4892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30168" y="3099816"/>
            <a:ext cx="4764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latency, consistency, compliance, and cost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3886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96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Architects are paid to manage tradeoffs, not to find one perfect scaling pattern.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" cy="5143500"/>
          </a:xfrm>
          <a:prstGeom prst="rect">
            <a:avLst/>
          </a:prstGeom>
          <a:solidFill>
            <a:srgbClr val="D96C4B"/>
          </a:solidFill>
          <a:ln w="12700">
            <a:solidFill>
              <a:srgbClr val="D96C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325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9DD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7955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Vertical and Horizontal Scaling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44988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4988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43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7 - Application Scalability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Vertical Scaling: Scale 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626864"/>
            <a:ext cx="8229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091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43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1704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scaling gives one machine more power.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1737360" cy="1234440"/>
          </a:xfrm>
          <a:prstGeom prst="roundRect">
            <a:avLst>
              <a:gd name="adj" fmla="val 5926"/>
            </a:avLst>
          </a:prstGeom>
          <a:solidFill>
            <a:srgbClr val="EAF3F7"/>
          </a:solidFill>
          <a:ln w="7620">
            <a:solidFill>
              <a:srgbClr val="D5DE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828800"/>
            <a:ext cx="109728" cy="1234440"/>
          </a:xfrm>
          <a:prstGeom prst="rect">
            <a:avLst/>
          </a:prstGeom>
          <a:solidFill>
            <a:srgbClr val="2B6F77"/>
          </a:solidFill>
          <a:ln w="12700">
            <a:solidFill>
              <a:srgbClr val="2B6F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CPU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60120" y="2331720"/>
            <a:ext cx="1371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cores for request processing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2788920" y="1828800"/>
            <a:ext cx="1737360" cy="1234440"/>
          </a:xfrm>
          <a:prstGeom prst="roundRect">
            <a:avLst>
              <a:gd name="adj" fmla="val 5926"/>
            </a:avLst>
          </a:prstGeom>
          <a:solidFill>
            <a:srgbClr val="EAF7EF"/>
          </a:solidFill>
          <a:ln w="7620">
            <a:solidFill>
              <a:srgbClr val="D5DE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88920" y="1828800"/>
            <a:ext cx="109728" cy="1234440"/>
          </a:xfrm>
          <a:prstGeom prst="rect">
            <a:avLst/>
          </a:prstGeom>
          <a:solidFill>
            <a:srgbClr val="2F7D55"/>
          </a:solidFill>
          <a:ln w="12700">
            <a:solidFill>
              <a:srgbClr val="2F7D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017520" y="2331720"/>
            <a:ext cx="1371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room for runtime and cache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4846320" y="1828800"/>
            <a:ext cx="1737360" cy="1234440"/>
          </a:xfrm>
          <a:prstGeom prst="roundRect">
            <a:avLst>
              <a:gd name="adj" fmla="val 5926"/>
            </a:avLst>
          </a:prstGeom>
          <a:solidFill>
            <a:srgbClr val="FFF8E7"/>
          </a:solidFill>
          <a:ln w="7620">
            <a:solidFill>
              <a:srgbClr val="D5DE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828800"/>
            <a:ext cx="109728" cy="1234440"/>
          </a:xfrm>
          <a:prstGeom prst="rect">
            <a:avLst/>
          </a:prstGeom>
          <a:solidFill>
            <a:srgbClr val="C58B2B"/>
          </a:solidFill>
          <a:ln w="12700">
            <a:solidFill>
              <a:srgbClr val="C58B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Disk I/O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074920" y="2331720"/>
            <a:ext cx="1371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reads and writes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903720" y="1828800"/>
            <a:ext cx="1737360" cy="1234440"/>
          </a:xfrm>
          <a:prstGeom prst="roundRect">
            <a:avLst>
              <a:gd name="adj" fmla="val 5926"/>
            </a:avLst>
          </a:prstGeom>
          <a:solidFill>
            <a:srgbClr val="FFF1EA"/>
          </a:solidFill>
          <a:ln w="7620">
            <a:solidFill>
              <a:srgbClr val="D5DE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03720" y="1828800"/>
            <a:ext cx="109728" cy="1234440"/>
          </a:xfrm>
          <a:prstGeom prst="rect">
            <a:avLst/>
          </a:prstGeom>
          <a:solidFill>
            <a:srgbClr val="D96C4B"/>
          </a:solidFill>
          <a:ln w="12700">
            <a:solidFill>
              <a:srgbClr val="D96C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32320" y="2331720"/>
            <a:ext cx="1371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service throughput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822960" y="39776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6F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is simple because the app still thinks it is running in one place.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7 - Application Scalability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Vertical Scaling: Strengths and Limits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626864"/>
            <a:ext cx="8229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091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43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325880"/>
            <a:ext cx="3931920" cy="475488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399032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140" dirty="0"/>
          </a:p>
        </p:txBody>
      </p:sp>
      <p:sp>
        <p:nvSpPr>
          <p:cNvPr id="9" name="Shape 7"/>
          <p:cNvSpPr/>
          <p:nvPr/>
        </p:nvSpPr>
        <p:spPr>
          <a:xfrm>
            <a:off x="4572000" y="1325880"/>
            <a:ext cx="3931920" cy="475488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399032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640080" y="1801368"/>
            <a:ext cx="3931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1874520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mental model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4572000" y="1801368"/>
            <a:ext cx="3931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6008" y="1874520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ceiling arrives eventually</a:t>
            </a:r>
            <a:endParaRPr lang="en-US" sz="1140" dirty="0"/>
          </a:p>
        </p:txBody>
      </p:sp>
      <p:sp>
        <p:nvSpPr>
          <p:cNvPr id="15" name="Shape 13"/>
          <p:cNvSpPr/>
          <p:nvPr/>
        </p:nvSpPr>
        <p:spPr>
          <a:xfrm>
            <a:off x="640080" y="2276856"/>
            <a:ext cx="3931920" cy="475488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2350008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no code changes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4572000" y="2276856"/>
            <a:ext cx="3931920" cy="475488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36008" y="2350008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machines get expensive quickly</a:t>
            </a:r>
            <a:endParaRPr lang="en-US" sz="1140" dirty="0"/>
          </a:p>
        </p:txBody>
      </p:sp>
      <p:sp>
        <p:nvSpPr>
          <p:cNvPr id="19" name="Shape 17"/>
          <p:cNvSpPr/>
          <p:nvPr/>
        </p:nvSpPr>
        <p:spPr>
          <a:xfrm>
            <a:off x="640080" y="2752344"/>
            <a:ext cx="3931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2825496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databases and early-stage apps</a:t>
            </a:r>
            <a:endParaRPr lang="en-US" sz="1140" dirty="0"/>
          </a:p>
        </p:txBody>
      </p:sp>
      <p:sp>
        <p:nvSpPr>
          <p:cNvPr id="21" name="Shape 19"/>
          <p:cNvSpPr/>
          <p:nvPr/>
        </p:nvSpPr>
        <p:spPr>
          <a:xfrm>
            <a:off x="4572000" y="2752344"/>
            <a:ext cx="3931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36008" y="2825496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may require restarts or downtime</a:t>
            </a:r>
            <a:endParaRPr lang="en-US" sz="1140" dirty="0"/>
          </a:p>
        </p:txBody>
      </p:sp>
      <p:sp>
        <p:nvSpPr>
          <p:cNvPr id="23" name="Shape 21"/>
          <p:cNvSpPr/>
          <p:nvPr/>
        </p:nvSpPr>
        <p:spPr>
          <a:xfrm>
            <a:off x="640080" y="3227832"/>
            <a:ext cx="3931920" cy="475488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3300984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distributed-system problems</a:t>
            </a:r>
            <a:endParaRPr lang="en-US" sz="1140" dirty="0"/>
          </a:p>
        </p:txBody>
      </p:sp>
      <p:sp>
        <p:nvSpPr>
          <p:cNvPr id="25" name="Shape 23"/>
          <p:cNvSpPr/>
          <p:nvPr/>
        </p:nvSpPr>
        <p:spPr>
          <a:xfrm>
            <a:off x="4572000" y="3227832"/>
            <a:ext cx="3931920" cy="475488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36008" y="3300984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large server can still be one failure point</a:t>
            </a:r>
            <a:endParaRPr lang="en-US" sz="1140" dirty="0"/>
          </a:p>
        </p:txBody>
      </p:sp>
      <p:sp>
        <p:nvSpPr>
          <p:cNvPr id="27" name="Text 25"/>
          <p:cNvSpPr/>
          <p:nvPr/>
        </p:nvSpPr>
        <p:spPr>
          <a:xfrm>
            <a:off x="822960" y="40416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6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Vertical scaling buys time. It does not remove the need for good architecture.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7 - Application Scalability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Horizontal Scaling: Scale Out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626864"/>
            <a:ext cx="8229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091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43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scaling adds more copies of the same service.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" y="182880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EAF3F7"/>
          </a:solidFill>
          <a:ln w="7620">
            <a:solidFill>
              <a:srgbClr val="D5DE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9516" y="1993392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traffic</a:t>
            </a:r>
            <a:endParaRPr lang="en-US" sz="1160" dirty="0"/>
          </a:p>
        </p:txBody>
      </p:sp>
      <p:sp>
        <p:nvSpPr>
          <p:cNvPr id="10" name="Text 8"/>
          <p:cNvSpPr/>
          <p:nvPr/>
        </p:nvSpPr>
        <p:spPr>
          <a:xfrm>
            <a:off x="2052828" y="2112264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44852" y="182880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EAF7EF"/>
          </a:solidFill>
          <a:ln w="7620">
            <a:solidFill>
              <a:srgbClr val="D5DE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18004" y="1993392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1160" dirty="0"/>
          </a:p>
        </p:txBody>
      </p:sp>
      <p:sp>
        <p:nvSpPr>
          <p:cNvPr id="13" name="Text 11"/>
          <p:cNvSpPr/>
          <p:nvPr/>
        </p:nvSpPr>
        <p:spPr>
          <a:xfrm>
            <a:off x="3671316" y="2112264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63340" y="182880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FF8E7"/>
          </a:solidFill>
          <a:ln w="7620">
            <a:solidFill>
              <a:srgbClr val="D5DE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36492" y="1993392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1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5289804" y="2112264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1828" y="182880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FF1EA"/>
          </a:solidFill>
          <a:ln w="7620">
            <a:solidFill>
              <a:srgbClr val="D5DE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54980" y="1993392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2</a:t>
            </a:r>
            <a:endParaRPr lang="en-US" sz="1160" dirty="0"/>
          </a:p>
        </p:txBody>
      </p:sp>
      <p:sp>
        <p:nvSpPr>
          <p:cNvPr id="19" name="Text 17"/>
          <p:cNvSpPr/>
          <p:nvPr/>
        </p:nvSpPr>
        <p:spPr>
          <a:xfrm>
            <a:off x="6908292" y="2112264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00316" y="182880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EAF3F7"/>
          </a:solidFill>
          <a:ln w="7620">
            <a:solidFill>
              <a:srgbClr val="D5DE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73468" y="1993392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3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3429000" y="315468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EAF7EF"/>
          </a:solidFill>
          <a:ln w="12700">
            <a:solidFill>
              <a:srgbClr val="2F7D5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11880" y="33649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7D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Shared database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416052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96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interchangeability: any healthy app instance can handle any request.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7 - Application Scalability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Horizontal Scaling: Requirements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626864"/>
            <a:ext cx="8229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091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43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2468880" cy="420624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30759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1234440"/>
            <a:ext cx="5303520" cy="420624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18688" y="130759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Approach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1655064"/>
            <a:ext cx="2468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728216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54680" y="1655064"/>
            <a:ext cx="53035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18688" y="1728216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managed database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2075688"/>
            <a:ext cx="2468880" cy="420624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148840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54680" y="2075688"/>
            <a:ext cx="5303520" cy="420624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18688" y="21488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such as S3 or Cloudinary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2496312"/>
            <a:ext cx="2468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2569464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54680" y="2496312"/>
            <a:ext cx="53035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18688" y="2569464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Redis, or database-backed sessions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2916936"/>
            <a:ext cx="2468880" cy="420624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990088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154680" y="2916936"/>
            <a:ext cx="5303520" cy="420624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18688" y="2990088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cache when correctness matters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" y="3337560"/>
            <a:ext cx="2468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341071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154680" y="3337560"/>
            <a:ext cx="53035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18688" y="34107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and secret stores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409651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D96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an instance disappears, another instance should be able to continue the work.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7 - Application Scalability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Vertical vs. Horizontal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626864"/>
            <a:ext cx="8229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091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43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188720"/>
            <a:ext cx="2286000" cy="402336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61872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2788920" y="1188720"/>
            <a:ext cx="2743200" cy="402336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52928" y="126187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5532120" y="1188720"/>
            <a:ext cx="3108960" cy="402336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96128" y="1261872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502920" y="1591056"/>
            <a:ext cx="2286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664208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capacity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2788920" y="1591056"/>
            <a:ext cx="2743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52928" y="166420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machine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5532120" y="1591056"/>
            <a:ext cx="3108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96128" y="1664208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machines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502920" y="1993392"/>
            <a:ext cx="2286000" cy="402336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066544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2788920" y="1993392"/>
            <a:ext cx="2743200" cy="402336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52928" y="2066544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1070" dirty="0"/>
          </a:p>
        </p:txBody>
      </p:sp>
      <p:sp>
        <p:nvSpPr>
          <p:cNvPr id="23" name="Shape 21"/>
          <p:cNvSpPr/>
          <p:nvPr/>
        </p:nvSpPr>
        <p:spPr>
          <a:xfrm>
            <a:off x="5532120" y="1993392"/>
            <a:ext cx="3108960" cy="402336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96128" y="2066544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  <a:endParaRPr lang="en-US" sz="1070" dirty="0"/>
          </a:p>
        </p:txBody>
      </p:sp>
      <p:sp>
        <p:nvSpPr>
          <p:cNvPr id="25" name="Shape 23"/>
          <p:cNvSpPr/>
          <p:nvPr/>
        </p:nvSpPr>
        <p:spPr>
          <a:xfrm>
            <a:off x="502920" y="2395728"/>
            <a:ext cx="2286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2468880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isolation</a:t>
            </a:r>
            <a:endParaRPr lang="en-US" sz="1070" dirty="0"/>
          </a:p>
        </p:txBody>
      </p:sp>
      <p:sp>
        <p:nvSpPr>
          <p:cNvPr id="27" name="Shape 25"/>
          <p:cNvSpPr/>
          <p:nvPr/>
        </p:nvSpPr>
        <p:spPr>
          <a:xfrm>
            <a:off x="2788920" y="2395728"/>
            <a:ext cx="2743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52928" y="2468880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</a:t>
            </a:r>
            <a:endParaRPr lang="en-US" sz="1070" dirty="0"/>
          </a:p>
        </p:txBody>
      </p:sp>
      <p:sp>
        <p:nvSpPr>
          <p:cNvPr id="29" name="Shape 27"/>
          <p:cNvSpPr/>
          <p:nvPr/>
        </p:nvSpPr>
        <p:spPr>
          <a:xfrm>
            <a:off x="5532120" y="2395728"/>
            <a:ext cx="3108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96128" y="2468880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if designed well</a:t>
            </a:r>
            <a:endParaRPr lang="en-US" sz="1070" dirty="0"/>
          </a:p>
        </p:txBody>
      </p:sp>
      <p:sp>
        <p:nvSpPr>
          <p:cNvPr id="31" name="Shape 29"/>
          <p:cNvSpPr/>
          <p:nvPr/>
        </p:nvSpPr>
        <p:spPr>
          <a:xfrm>
            <a:off x="502920" y="2798064"/>
            <a:ext cx="2286000" cy="402336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2871216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curve</a:t>
            </a:r>
            <a:endParaRPr lang="en-US" sz="1070" dirty="0"/>
          </a:p>
        </p:txBody>
      </p:sp>
      <p:sp>
        <p:nvSpPr>
          <p:cNvPr id="33" name="Shape 31"/>
          <p:cNvSpPr/>
          <p:nvPr/>
        </p:nvSpPr>
        <p:spPr>
          <a:xfrm>
            <a:off x="2788920" y="2798064"/>
            <a:ext cx="2743200" cy="402336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52928" y="2871216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jump sharply</a:t>
            </a:r>
            <a:endParaRPr lang="en-US" sz="1070" dirty="0"/>
          </a:p>
        </p:txBody>
      </p:sp>
      <p:sp>
        <p:nvSpPr>
          <p:cNvPr id="35" name="Shape 33"/>
          <p:cNvSpPr/>
          <p:nvPr/>
        </p:nvSpPr>
        <p:spPr>
          <a:xfrm>
            <a:off x="5532120" y="2798064"/>
            <a:ext cx="3108960" cy="402336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96128" y="2871216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grow gradually</a:t>
            </a:r>
            <a:endParaRPr lang="en-US" sz="1070" dirty="0"/>
          </a:p>
        </p:txBody>
      </p:sp>
      <p:sp>
        <p:nvSpPr>
          <p:cNvPr id="37" name="Shape 35"/>
          <p:cNvSpPr/>
          <p:nvPr/>
        </p:nvSpPr>
        <p:spPr>
          <a:xfrm>
            <a:off x="502920" y="3200400"/>
            <a:ext cx="2286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3273552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pressure</a:t>
            </a:r>
            <a:endParaRPr lang="en-US" sz="1070" dirty="0"/>
          </a:p>
        </p:txBody>
      </p:sp>
      <p:sp>
        <p:nvSpPr>
          <p:cNvPr id="39" name="Shape 37"/>
          <p:cNvSpPr/>
          <p:nvPr/>
        </p:nvSpPr>
        <p:spPr>
          <a:xfrm>
            <a:off x="2788920" y="3200400"/>
            <a:ext cx="2743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52928" y="327355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limits</a:t>
            </a:r>
            <a:endParaRPr lang="en-US" sz="1070" dirty="0"/>
          </a:p>
        </p:txBody>
      </p:sp>
      <p:sp>
        <p:nvSpPr>
          <p:cNvPr id="41" name="Shape 39"/>
          <p:cNvSpPr/>
          <p:nvPr/>
        </p:nvSpPr>
        <p:spPr>
          <a:xfrm>
            <a:off x="5532120" y="3200400"/>
            <a:ext cx="3108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96128" y="3273552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Statelessness and coordination</a:t>
            </a:r>
            <a:endParaRPr lang="en-US" sz="1070" dirty="0"/>
          </a:p>
        </p:txBody>
      </p:sp>
      <p:sp>
        <p:nvSpPr>
          <p:cNvPr id="43" name="Text 41"/>
          <p:cNvSpPr/>
          <p:nvPr/>
        </p:nvSpPr>
        <p:spPr>
          <a:xfrm>
            <a:off x="822960" y="411480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6F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production systems use both.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7 - Application Scalability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Balancers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626864"/>
            <a:ext cx="8229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091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43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3017520" cy="2468880"/>
          </a:xfrm>
          <a:prstGeom prst="roundRect">
            <a:avLst>
              <a:gd name="adj" fmla="val 2963"/>
            </a:avLst>
          </a:prstGeom>
          <a:solidFill>
            <a:srgbClr val="EAF3F7"/>
          </a:solidFill>
          <a:ln w="7620">
            <a:solidFill>
              <a:srgbClr val="D5DE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234440"/>
            <a:ext cx="109728" cy="2468880"/>
          </a:xfrm>
          <a:prstGeom prst="rect">
            <a:avLst/>
          </a:prstGeom>
          <a:solidFill>
            <a:srgbClr val="2B6F77"/>
          </a:solidFill>
          <a:ln w="12700">
            <a:solidFill>
              <a:srgbClr val="2B6F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Mental model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265176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load balancer is the traffic director for horizontally scaled services.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4297680" y="1307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can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34840" y="1737360"/>
            <a:ext cx="384048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3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requests only to healthy instances</a:t>
            </a:r>
            <a:endParaRPr lang="en-US" sz="1430" dirty="0"/>
          </a:p>
          <a:p>
            <a:pPr marL="342900" indent="-342900">
              <a:buSzPct val="100000"/>
              <a:buChar char="•"/>
            </a:pPr>
            <a:r>
              <a:rPr lang="en-US" sz="143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load across app copies</a:t>
            </a:r>
            <a:endParaRPr lang="en-US" sz="1430" dirty="0"/>
          </a:p>
          <a:p>
            <a:pPr marL="342900" indent="-342900">
              <a:buSzPct val="100000"/>
              <a:buChar char="•"/>
            </a:pPr>
            <a:r>
              <a:rPr lang="en-US" sz="143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 HTTPS</a:t>
            </a:r>
            <a:endParaRPr lang="en-US" sz="1430" dirty="0"/>
          </a:p>
          <a:p>
            <a:pPr marL="342900" indent="-342900">
              <a:buSzPct val="100000"/>
              <a:buChar char="•"/>
            </a:pPr>
            <a:r>
              <a:rPr lang="en-US" sz="143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zero-downtime deploys</a:t>
            </a:r>
            <a:endParaRPr lang="en-US" sz="1430" dirty="0"/>
          </a:p>
          <a:p>
            <a:pPr marL="342900" indent="-342900">
              <a:buSzPct val="100000"/>
              <a:buChar char="•"/>
            </a:pPr>
            <a:r>
              <a:rPr lang="en-US" sz="143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by path, host, or geography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822960" y="409651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6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platforms often include this automatically.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7 - Application Scalability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Is the Scaling Boundary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626864"/>
            <a:ext cx="8229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091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43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1828800" cy="457200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33502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Type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2286000" y="1261872"/>
            <a:ext cx="3931920" cy="457200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50008" y="1335024"/>
            <a:ext cx="3803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Risk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6217920" y="1261872"/>
            <a:ext cx="2468880" cy="457200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81928" y="1335024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Pattern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457200" y="1719072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179222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files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2286000" y="1719072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50008" y="1792224"/>
            <a:ext cx="3803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on restart or hidden on one instance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6217920" y="1719072"/>
            <a:ext cx="2468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1928" y="1792224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457200" y="2176272"/>
            <a:ext cx="1828800" cy="457200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224942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sessions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2286000" y="2176272"/>
            <a:ext cx="3931920" cy="457200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50008" y="2249424"/>
            <a:ext cx="3803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appears logged out on another instance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6217920" y="2176272"/>
            <a:ext cx="2468880" cy="457200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81928" y="2249424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or shared session store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457200" y="2633472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" y="270662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cache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2286000" y="2633472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50008" y="2706624"/>
            <a:ext cx="3803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answers from different instances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6217920" y="2633472"/>
            <a:ext cx="2468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81928" y="2706624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cache or invalidation</a:t>
            </a:r>
            <a:endParaRPr lang="en-US" sz="1040" dirty="0"/>
          </a:p>
        </p:txBody>
      </p:sp>
      <p:sp>
        <p:nvSpPr>
          <p:cNvPr id="31" name="Shape 29"/>
          <p:cNvSpPr/>
          <p:nvPr/>
        </p:nvSpPr>
        <p:spPr>
          <a:xfrm>
            <a:off x="457200" y="3090672"/>
            <a:ext cx="1828800" cy="457200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" y="316382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jobs</a:t>
            </a:r>
            <a:endParaRPr lang="en-US" sz="1040" dirty="0"/>
          </a:p>
        </p:txBody>
      </p:sp>
      <p:sp>
        <p:nvSpPr>
          <p:cNvPr id="33" name="Shape 31"/>
          <p:cNvSpPr/>
          <p:nvPr/>
        </p:nvSpPr>
        <p:spPr>
          <a:xfrm>
            <a:off x="2286000" y="3090672"/>
            <a:ext cx="3931920" cy="457200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50008" y="3163824"/>
            <a:ext cx="3803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work or missed work</a:t>
            </a:r>
            <a:endParaRPr lang="en-US" sz="1040" dirty="0"/>
          </a:p>
        </p:txBody>
      </p:sp>
      <p:sp>
        <p:nvSpPr>
          <p:cNvPr id="35" name="Shape 33"/>
          <p:cNvSpPr/>
          <p:nvPr/>
        </p:nvSpPr>
        <p:spPr>
          <a:xfrm>
            <a:off x="6217920" y="3090672"/>
            <a:ext cx="2468880" cy="457200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81928" y="3163824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with worker coordination</a:t>
            </a:r>
            <a:endParaRPr lang="en-US" sz="1040" dirty="0"/>
          </a:p>
        </p:txBody>
      </p:sp>
      <p:sp>
        <p:nvSpPr>
          <p:cNvPr id="37" name="Text 35"/>
          <p:cNvSpPr/>
          <p:nvPr/>
        </p:nvSpPr>
        <p:spPr>
          <a:xfrm>
            <a:off x="822960" y="40782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96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scaling fails, state is usually where it fails.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" cy="5143500"/>
          </a:xfrm>
          <a:prstGeom prst="rect">
            <a:avLst/>
          </a:prstGeom>
          <a:solidFill>
            <a:srgbClr val="D96C4B"/>
          </a:solidFill>
          <a:ln w="12700">
            <a:solidFill>
              <a:srgbClr val="D96C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325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9DD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7955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 Models: VMs, Containers, PaaS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44988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4988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43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7 - Application Scalability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Compute Spectrum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626864"/>
            <a:ext cx="8229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091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43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371600"/>
            <a:ext cx="1600200" cy="530352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444752"/>
            <a:ext cx="1472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94560" y="1371600"/>
            <a:ext cx="1600200" cy="530352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58568" y="1444752"/>
            <a:ext cx="1472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94760" y="1371600"/>
            <a:ext cx="1600200" cy="530352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58768" y="1444752"/>
            <a:ext cx="1472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Work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94960" y="1371600"/>
            <a:ext cx="3154680" cy="530352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58968" y="1444752"/>
            <a:ext cx="3026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1901952"/>
            <a:ext cx="1600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1975104"/>
            <a:ext cx="1472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94560" y="1901952"/>
            <a:ext cx="1600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58568" y="1975104"/>
            <a:ext cx="1472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94760" y="1901952"/>
            <a:ext cx="1600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58768" y="1975104"/>
            <a:ext cx="1472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94960" y="1901952"/>
            <a:ext cx="3154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58968" y="1975104"/>
            <a:ext cx="3026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apps, custom servers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" y="2432304"/>
            <a:ext cx="1600200" cy="530352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505456"/>
            <a:ext cx="1472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194560" y="2432304"/>
            <a:ext cx="1600200" cy="530352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58568" y="2505456"/>
            <a:ext cx="1472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794760" y="2432304"/>
            <a:ext cx="1600200" cy="530352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58768" y="2505456"/>
            <a:ext cx="1472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394960" y="2432304"/>
            <a:ext cx="3154680" cy="530352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58968" y="2505456"/>
            <a:ext cx="3026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services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2962656"/>
            <a:ext cx="1600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3035808"/>
            <a:ext cx="1472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194560" y="2962656"/>
            <a:ext cx="1600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8568" y="3035808"/>
            <a:ext cx="1472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794760" y="2962656"/>
            <a:ext cx="1600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58768" y="3035808"/>
            <a:ext cx="1472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394960" y="2962656"/>
            <a:ext cx="3154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58968" y="3035808"/>
            <a:ext cx="3026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apps and APIs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77240" y="37947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6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control usually means more responsibility.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7 - Application Scalability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Virtual Machines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626864"/>
            <a:ext cx="8229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091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43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3063240" cy="2514600"/>
          </a:xfrm>
          <a:prstGeom prst="roundRect">
            <a:avLst>
              <a:gd name="adj" fmla="val 2909"/>
            </a:avLst>
          </a:prstGeom>
          <a:solidFill>
            <a:srgbClr val="EAF3F7"/>
          </a:solidFill>
          <a:ln w="7620">
            <a:solidFill>
              <a:srgbClr val="D5DE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234440"/>
            <a:ext cx="109728" cy="2514600"/>
          </a:xfrm>
          <a:prstGeom prst="rect">
            <a:avLst/>
          </a:prstGeom>
          <a:solidFill>
            <a:srgbClr val="2B6F77"/>
          </a:solidFill>
          <a:ln w="12700">
            <a:solidFill>
              <a:srgbClr val="2B6F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3716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Mental model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269748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VM is a full server-like machine in the cloud. You get flexibility, but you own server discipline.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434340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manage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80560" y="1664208"/>
            <a:ext cx="3657600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updates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installation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rules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managers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space and backups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strategy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7 - Application Scalability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626864"/>
            <a:ext cx="8229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091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43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3063240" cy="2514600"/>
          </a:xfrm>
          <a:prstGeom prst="roundRect">
            <a:avLst>
              <a:gd name="adj" fmla="val 2909"/>
            </a:avLst>
          </a:prstGeom>
          <a:solidFill>
            <a:srgbClr val="EAF7EF"/>
          </a:solidFill>
          <a:ln w="7620">
            <a:solidFill>
              <a:srgbClr val="D5DE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234440"/>
            <a:ext cx="109728" cy="2514600"/>
          </a:xfrm>
          <a:prstGeom prst="rect">
            <a:avLst/>
          </a:prstGeom>
          <a:solidFill>
            <a:srgbClr val="2F7D55"/>
          </a:solidFill>
          <a:ln w="12700">
            <a:solidFill>
              <a:srgbClr val="2F7D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3716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Mental model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269748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container packages the application and its runtime assumptions into an image.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429768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Containers help with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34840" y="1700784"/>
            <a:ext cx="384048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8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local, CI, staging, and production</a:t>
            </a:r>
            <a:endParaRPr lang="en-US" sz="1480" dirty="0"/>
          </a:p>
          <a:p>
            <a:pPr marL="342900" indent="-342900">
              <a:buSzPct val="100000"/>
              <a:buChar char="•"/>
            </a:pPr>
            <a:r>
              <a:rPr lang="en-US" sz="148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the same artifact repeatedly</a:t>
            </a:r>
            <a:endParaRPr lang="en-US" sz="1480" dirty="0"/>
          </a:p>
          <a:p>
            <a:pPr marL="342900" indent="-342900">
              <a:buSzPct val="100000"/>
              <a:buChar char="•"/>
            </a:pPr>
            <a:r>
              <a:rPr lang="en-US" sz="148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services with Docker Compose</a:t>
            </a:r>
            <a:endParaRPr lang="en-US" sz="1480" dirty="0"/>
          </a:p>
          <a:p>
            <a:pPr marL="342900" indent="-342900">
              <a:buSzPct val="100000"/>
              <a:buChar char="•"/>
            </a:pPr>
            <a:r>
              <a:rPr lang="en-US" sz="148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workloads between platforms</a:t>
            </a:r>
            <a:endParaRPr lang="en-US" sz="1480" dirty="0"/>
          </a:p>
        </p:txBody>
      </p:sp>
      <p:sp>
        <p:nvSpPr>
          <p:cNvPr id="13" name="Text 11"/>
          <p:cNvSpPr/>
          <p:nvPr/>
        </p:nvSpPr>
        <p:spPr>
          <a:xfrm>
            <a:off x="777240" y="409651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D96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make packaging and deployment repeatable; they do not automatically solve scaling.</a:t>
            </a:r>
            <a:endParaRPr lang="en-US" sz="14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7 - Application Scalability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626864"/>
            <a:ext cx="8229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091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43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3063240" cy="2514600"/>
          </a:xfrm>
          <a:prstGeom prst="roundRect">
            <a:avLst>
              <a:gd name="adj" fmla="val 2909"/>
            </a:avLst>
          </a:prstGeom>
          <a:solidFill>
            <a:srgbClr val="FFF1EA"/>
          </a:solidFill>
          <a:ln w="7620">
            <a:solidFill>
              <a:srgbClr val="D5DE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234440"/>
            <a:ext cx="109728" cy="2514600"/>
          </a:xfrm>
          <a:prstGeom prst="rect">
            <a:avLst/>
          </a:prstGeom>
          <a:solidFill>
            <a:srgbClr val="D96C4B"/>
          </a:solidFill>
          <a:ln w="12700">
            <a:solidFill>
              <a:srgbClr val="D96C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3716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Mental model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269748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Platform-as-a-Service lets teams deploy without managing most server details.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420624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PaaS commonly handles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343400" y="1664208"/>
            <a:ext cx="384048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4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hosting</a:t>
            </a:r>
            <a:endParaRPr lang="en-US" sz="1440" dirty="0"/>
          </a:p>
          <a:p>
            <a:pPr marL="342900" indent="-342900">
              <a:buSzPct val="100000"/>
              <a:buChar char="•"/>
            </a:pPr>
            <a:r>
              <a:rPr lang="en-US" sz="144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and routing</a:t>
            </a:r>
            <a:endParaRPr lang="en-US" sz="1440" dirty="0"/>
          </a:p>
          <a:p>
            <a:pPr marL="342900" indent="-342900">
              <a:buSzPct val="100000"/>
              <a:buChar char="•"/>
            </a:pPr>
            <a:r>
              <a:rPr lang="en-US" sz="144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logs</a:t>
            </a:r>
            <a:endParaRPr lang="en-US" sz="1440" dirty="0"/>
          </a:p>
          <a:p>
            <a:pPr marL="342900" indent="-342900">
              <a:buSzPct val="100000"/>
              <a:buChar char="•"/>
            </a:pPr>
            <a:r>
              <a:rPr lang="en-US" sz="144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 and restarts</a:t>
            </a:r>
            <a:endParaRPr lang="en-US" sz="1440" dirty="0"/>
          </a:p>
          <a:p>
            <a:pPr marL="342900" indent="-342900">
              <a:buSzPct val="100000"/>
              <a:buChar char="•"/>
            </a:pPr>
            <a:r>
              <a:rPr lang="en-US" sz="144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</a:t>
            </a:r>
            <a:endParaRPr lang="en-US" sz="1440" dirty="0"/>
          </a:p>
          <a:p>
            <a:pPr marL="342900" indent="-342900">
              <a:buSzPct val="100000"/>
              <a:buChar char="•"/>
            </a:pPr>
            <a:r>
              <a:rPr lang="en-US" sz="144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horizontal scaling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777240" y="409651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96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most student web apps, PaaS plus a managed database is the fastest path.</a:t>
            </a:r>
            <a:endParaRPr lang="en-US" sz="1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7 - Application Scalability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Dockerfile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626864"/>
            <a:ext cx="8229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091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43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14300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only code we need today. Focus on the ideas, not the syntax.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14400" y="1627632"/>
            <a:ext cx="7315200" cy="2606040"/>
          </a:xfrm>
          <a:prstGeom prst="roundRect">
            <a:avLst>
              <a:gd name="adj" fmla="val 2807"/>
            </a:avLst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43000" y="1828800"/>
            <a:ext cx="6858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F7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node:20-alpine AS builder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F7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F7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package.json package-lock.json ./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F7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ci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F7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F7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run build</a:t>
            </a:r>
            <a:endParaRPr lang="en-US" sz="1260" dirty="0"/>
          </a:p>
          <a:p>
            <a:pPr indent="0" marL="0">
              <a:buNone/>
            </a:pP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F7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node:20-alpine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F7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app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F7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["node", "dist/index.js"]</a:t>
            </a:r>
            <a:endParaRPr lang="en-US" sz="126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7 - Application Scalability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Dockerfile Teaches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626864"/>
            <a:ext cx="8229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091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43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2743200" cy="420624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307592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3337560" y="1234440"/>
            <a:ext cx="5212080" cy="420624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1307592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594360" y="1655064"/>
            <a:ext cx="2743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728216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3337560" y="1655064"/>
            <a:ext cx="52120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1728216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tools stay out of the final runtime image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594360" y="2075688"/>
            <a:ext cx="2743200" cy="420624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14884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dependency files first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3337560" y="2075688"/>
            <a:ext cx="5212080" cy="420624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1568" y="214884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can cache expensive dependency installs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594360" y="2496312"/>
            <a:ext cx="2743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2569464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install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3337560" y="2496312"/>
            <a:ext cx="52120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01568" y="2569464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 matches the lockfile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594360" y="2916936"/>
            <a:ext cx="2743200" cy="420624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990088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user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3337560" y="2916936"/>
            <a:ext cx="5212080" cy="420624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01568" y="299008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compromised app has less power inside the container</a:t>
            </a:r>
            <a:endParaRPr lang="en-US" sz="1130" dirty="0"/>
          </a:p>
        </p:txBody>
      </p:sp>
      <p:sp>
        <p:nvSpPr>
          <p:cNvPr id="27" name="Shape 25"/>
          <p:cNvSpPr/>
          <p:nvPr/>
        </p:nvSpPr>
        <p:spPr>
          <a:xfrm>
            <a:off x="594360" y="3337560"/>
            <a:ext cx="2743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3410712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</a:t>
            </a:r>
            <a:endParaRPr lang="en-US" sz="1130" dirty="0"/>
          </a:p>
        </p:txBody>
      </p:sp>
      <p:sp>
        <p:nvSpPr>
          <p:cNvPr id="29" name="Shape 27"/>
          <p:cNvSpPr/>
          <p:nvPr/>
        </p:nvSpPr>
        <p:spPr>
          <a:xfrm>
            <a:off x="3337560" y="3337560"/>
            <a:ext cx="52120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01568" y="3410712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changes by environment, not by editing code</a:t>
            </a:r>
            <a:endParaRPr lang="en-US" sz="1130" dirty="0"/>
          </a:p>
        </p:txBody>
      </p:sp>
      <p:sp>
        <p:nvSpPr>
          <p:cNvPr id="31" name="Text 29"/>
          <p:cNvSpPr/>
          <p:nvPr/>
        </p:nvSpPr>
        <p:spPr>
          <a:xfrm>
            <a:off x="777240" y="409651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7D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Containerization is also a security and reproducibility practice.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" cy="5143500"/>
          </a:xfrm>
          <a:prstGeom prst="rect">
            <a:avLst/>
          </a:prstGeom>
          <a:solidFill>
            <a:srgbClr val="D96C4B"/>
          </a:solidFill>
          <a:ln w="12700">
            <a:solidFill>
              <a:srgbClr val="D96C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325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9DD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7955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 and Operations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44988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4988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43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7 - Application Scalability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 vs. Observability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626864"/>
            <a:ext cx="8229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091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43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3794760" cy="1143000"/>
          </a:xfrm>
          <a:prstGeom prst="roundRect">
            <a:avLst>
              <a:gd name="adj" fmla="val 6400"/>
            </a:avLst>
          </a:prstGeom>
          <a:solidFill>
            <a:srgbClr val="EAF3F7"/>
          </a:solidFill>
          <a:ln w="7620">
            <a:solidFill>
              <a:srgbClr val="D5DE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234440"/>
            <a:ext cx="109728" cy="1143000"/>
          </a:xfrm>
          <a:prstGeom prst="rect">
            <a:avLst/>
          </a:prstGeom>
          <a:solidFill>
            <a:srgbClr val="2B6F77"/>
          </a:solidFill>
          <a:ln w="12700">
            <a:solidFill>
              <a:srgbClr val="2B6F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371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3429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system healthy?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3794760" cy="1143000"/>
          </a:xfrm>
          <a:prstGeom prst="roundRect">
            <a:avLst>
              <a:gd name="adj" fmla="val 6400"/>
            </a:avLst>
          </a:prstGeom>
          <a:solidFill>
            <a:srgbClr val="FFF1EA"/>
          </a:solidFill>
          <a:ln w="7620">
            <a:solidFill>
              <a:srgbClr val="D5DE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34440"/>
            <a:ext cx="109728" cy="1143000"/>
          </a:xfrm>
          <a:prstGeom prst="rect">
            <a:avLst/>
          </a:prstGeom>
          <a:solidFill>
            <a:srgbClr val="D96C4B"/>
          </a:solidFill>
          <a:ln w="12700">
            <a:solidFill>
              <a:srgbClr val="D96C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371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892040" y="1737360"/>
            <a:ext cx="3429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understand what happened from system outputs?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914400" y="2788920"/>
            <a:ext cx="1828800" cy="347472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286207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0" y="2788920"/>
            <a:ext cx="5486400" cy="347472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07208" y="2862072"/>
            <a:ext cx="535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Reveals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4400" y="3136392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3209544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0" y="3136392"/>
            <a:ext cx="5486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07208" y="3209544"/>
            <a:ext cx="535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and context: what happened?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4400" y="3483864"/>
            <a:ext cx="1828800" cy="347472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8408" y="3557016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743200" y="3483864"/>
            <a:ext cx="5486400" cy="347472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07208" y="3557016"/>
            <a:ext cx="535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and thresholds: how often, how slow, how many?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14400" y="3831336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8408" y="390448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43200" y="3831336"/>
            <a:ext cx="5486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07208" y="3904488"/>
            <a:ext cx="535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path: where did time or failure occur?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7 - Application Scalability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Logging as a Scaling Tool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626864"/>
            <a:ext cx="8229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091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43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14300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should help answer operational questions quickly.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74066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4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540" dirty="0"/>
          </a:p>
          <a:p>
            <a:pPr marL="342900" indent="-342900">
              <a:buSzPct val="100000"/>
              <a:buChar char="•"/>
            </a:pPr>
            <a:r>
              <a:rPr lang="en-US" sz="154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level</a:t>
            </a:r>
            <a:endParaRPr lang="en-US" sz="1540" dirty="0"/>
          </a:p>
          <a:p>
            <a:pPr marL="342900" indent="-342900">
              <a:buSzPct val="100000"/>
              <a:buChar char="•"/>
            </a:pPr>
            <a:r>
              <a:rPr lang="en-US" sz="154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or correlation ID</a:t>
            </a:r>
            <a:endParaRPr lang="en-US" sz="1540" dirty="0"/>
          </a:p>
          <a:p>
            <a:pPr marL="342900" indent="-342900">
              <a:buSzPct val="100000"/>
              <a:buChar char="•"/>
            </a:pPr>
            <a:r>
              <a:rPr lang="en-US" sz="154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or team identifier when appropriate</a:t>
            </a:r>
            <a:endParaRPr lang="en-US" sz="1540" dirty="0"/>
          </a:p>
          <a:p>
            <a:pPr marL="342900" indent="-342900">
              <a:buSzPct val="100000"/>
              <a:buChar char="•"/>
            </a:pPr>
            <a:r>
              <a:rPr lang="en-US" sz="154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name</a:t>
            </a:r>
            <a:endParaRPr lang="en-US" sz="1540" dirty="0"/>
          </a:p>
          <a:p>
            <a:pPr marL="342900" indent="-342900">
              <a:buSzPct val="100000"/>
              <a:buChar char="•"/>
            </a:pPr>
            <a:r>
              <a:rPr lang="en-US" sz="154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details without leaking secrets</a:t>
            </a:r>
            <a:endParaRPr lang="en-US" sz="1540" dirty="0"/>
          </a:p>
        </p:txBody>
      </p:sp>
      <p:sp>
        <p:nvSpPr>
          <p:cNvPr id="9" name="Text 7"/>
          <p:cNvSpPr/>
          <p:nvPr/>
        </p:nvSpPr>
        <p:spPr>
          <a:xfrm>
            <a:off x="777240" y="409651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D96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logs are easier to filter, aggregate, and alert on than debugging messages.</a:t>
            </a:r>
            <a:endParaRPr lang="en-US" sz="142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7 - Application Scalability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 That Matter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626864"/>
            <a:ext cx="8229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091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43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2377440" cy="438912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307592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63240" y="1234440"/>
            <a:ext cx="5394960" cy="438912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7248" y="1307592"/>
            <a:ext cx="5266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Tells You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1673352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746504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63240" y="1673352"/>
            <a:ext cx="5394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27248" y="1746504"/>
            <a:ext cx="5266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traffic is arriving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2112264"/>
            <a:ext cx="2377440" cy="438912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185416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63240" y="2112264"/>
            <a:ext cx="5394960" cy="438912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27248" y="2185416"/>
            <a:ext cx="5266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traffic fails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2551176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2624328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063240" y="2551176"/>
            <a:ext cx="5394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27248" y="2624328"/>
            <a:ext cx="5266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users wait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2990088"/>
            <a:ext cx="2377440" cy="438912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306324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063240" y="2990088"/>
            <a:ext cx="5394960" cy="438912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27248" y="3063240"/>
            <a:ext cx="5266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close resources are to limits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" y="3429000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3502152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depth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063240" y="3429000"/>
            <a:ext cx="5394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27248" y="3502152"/>
            <a:ext cx="5266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background work is falling behind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7240" y="409651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6F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These answer the demo question: Is the app holding up?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7 - Application Scalability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Alerts and Health Checks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626864"/>
            <a:ext cx="8229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091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43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3108960" cy="512064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90472"/>
            <a:ext cx="2980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3794760" y="1417320"/>
            <a:ext cx="4663440" cy="512064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58768" y="1490472"/>
            <a:ext cx="4535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685800" y="1929384"/>
            <a:ext cx="31089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002536"/>
            <a:ext cx="2980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failing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3794760" y="1929384"/>
            <a:ext cx="46634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58768" y="2002536"/>
            <a:ext cx="4535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immediately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85800" y="2441448"/>
            <a:ext cx="3108960" cy="512064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514600"/>
            <a:ext cx="2980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 above threshold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3794760" y="2441448"/>
            <a:ext cx="4663440" cy="512064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58768" y="2514600"/>
            <a:ext cx="4535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soon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685800" y="2953512"/>
            <a:ext cx="31089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026664"/>
            <a:ext cx="2980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rising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3794760" y="2953512"/>
            <a:ext cx="46634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58768" y="3026664"/>
            <a:ext cx="4535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and diagnose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685800" y="3465576"/>
            <a:ext cx="3108960" cy="512064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3538728"/>
            <a:ext cx="2980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404 or bot traffic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3794760" y="3465576"/>
            <a:ext cx="4663440" cy="512064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58768" y="3538728"/>
            <a:ext cx="4535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and ignore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777240" y="409651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D96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 projects, a health endpoint plus UptimeRobot is a strong starting point.</a:t>
            </a:r>
            <a:endParaRPr lang="en-US" sz="142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7 - Application Scalability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 as Code and Repeatability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626864"/>
            <a:ext cx="8229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091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43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3977640" cy="493776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307592"/>
            <a:ext cx="3849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Click-Ops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4572000" y="1234440"/>
            <a:ext cx="3977640" cy="493776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307592"/>
            <a:ext cx="3849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Infrastructure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594360" y="1728216"/>
            <a:ext cx="39776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801368"/>
            <a:ext cx="3849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live in dashboards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4572000" y="1728216"/>
            <a:ext cx="39776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6008" y="1801368"/>
            <a:ext cx="3849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live in files or scripts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594360" y="2221992"/>
            <a:ext cx="3977640" cy="493776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295144"/>
            <a:ext cx="3849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review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4572000" y="2221992"/>
            <a:ext cx="3977640" cy="493776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36008" y="2295144"/>
            <a:ext cx="3849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show intent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594360" y="2715768"/>
            <a:ext cx="39776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2788920"/>
            <a:ext cx="3849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and production drift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4572000" y="2715768"/>
            <a:ext cx="39776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36008" y="2788920"/>
            <a:ext cx="3849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 can be aligned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594360" y="3209544"/>
            <a:ext cx="3977640" cy="493776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282696"/>
            <a:ext cx="3849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depends on memory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4572000" y="3209544"/>
            <a:ext cx="3977640" cy="493776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36008" y="3282696"/>
            <a:ext cx="3849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can be recreated</a:t>
            </a:r>
            <a:endParaRPr lang="en-US" sz="1130" dirty="0"/>
          </a:p>
        </p:txBody>
      </p:sp>
      <p:sp>
        <p:nvSpPr>
          <p:cNvPr id="27" name="Text 25"/>
          <p:cNvSpPr/>
          <p:nvPr/>
        </p:nvSpPr>
        <p:spPr>
          <a:xfrm>
            <a:off x="685800" y="40965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D96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student scale: GitHub Actions, Docker Compose, .env.example, and a clear README are enough.</a:t>
            </a:r>
            <a:endParaRPr lang="en-US" sz="138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" cy="5143500"/>
          </a:xfrm>
          <a:prstGeom prst="rect">
            <a:avLst/>
          </a:prstGeom>
          <a:solidFill>
            <a:srgbClr val="D96C4B"/>
          </a:solidFill>
          <a:ln w="12700">
            <a:solidFill>
              <a:srgbClr val="D96C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325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9DD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7955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Changes as You Scale Out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44988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4988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7 - Application Scalability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at Local Scale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626864"/>
            <a:ext cx="8229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091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43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3017520" cy="2514600"/>
          </a:xfrm>
          <a:prstGeom prst="roundRect">
            <a:avLst>
              <a:gd name="adj" fmla="val 2909"/>
            </a:avLst>
          </a:prstGeom>
          <a:solidFill>
            <a:srgbClr val="EAF3F7"/>
          </a:solidFill>
          <a:ln w="7620">
            <a:solidFill>
              <a:srgbClr val="D5DE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234440"/>
            <a:ext cx="109728" cy="2514600"/>
          </a:xfrm>
          <a:prstGeom prst="rect">
            <a:avLst/>
          </a:prstGeom>
          <a:solidFill>
            <a:srgbClr val="2B6F77"/>
          </a:solidFill>
          <a:ln w="12700">
            <a:solidFill>
              <a:srgbClr val="2B6F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Starting point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265176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one small app, security starts with basics that should never disappear later.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4343400" y="1417320"/>
            <a:ext cx="3840480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commit secrets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passwords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CORS deliberately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dependencies updated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HTTPS in deployed environments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409651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6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Scaling adds more places where mistakes can hide.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7 - Application Scalability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at Regional Scale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626864"/>
            <a:ext cx="8229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091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43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3017520" cy="2514600"/>
          </a:xfrm>
          <a:prstGeom prst="roundRect">
            <a:avLst>
              <a:gd name="adj" fmla="val 2909"/>
            </a:avLst>
          </a:prstGeom>
          <a:solidFill>
            <a:srgbClr val="FFF1EA"/>
          </a:solidFill>
          <a:ln w="7620">
            <a:solidFill>
              <a:srgbClr val="D5DE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234440"/>
            <a:ext cx="109728" cy="2514600"/>
          </a:xfrm>
          <a:prstGeom prst="rect">
            <a:avLst/>
          </a:prstGeom>
          <a:solidFill>
            <a:srgbClr val="D96C4B"/>
          </a:solidFill>
          <a:ln w="12700">
            <a:solidFill>
              <a:srgbClr val="D96C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reality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265176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app is deployed and reachable, the attack surface grows.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4343400" y="1417320"/>
            <a:ext cx="3840480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service credentials</a:t>
            </a:r>
            <a:endParaRPr lang="en-US" sz="1420" dirty="0"/>
          </a:p>
          <a:p>
            <a:pPr marL="342900" indent="-342900">
              <a:buSzPct val="100000"/>
              <a:buChar char="•"/>
            </a:pPr>
            <a:r>
              <a:rPr lang="en-US" sz="14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database access</a:t>
            </a:r>
            <a:endParaRPr lang="en-US" sz="1420" dirty="0"/>
          </a:p>
          <a:p>
            <a:pPr marL="342900" indent="-342900">
              <a:buSzPct val="100000"/>
              <a:buChar char="•"/>
            </a:pPr>
            <a:r>
              <a:rPr lang="en-US" sz="14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and abuse prevention</a:t>
            </a:r>
            <a:endParaRPr lang="en-US" sz="1420" dirty="0"/>
          </a:p>
          <a:p>
            <a:pPr marL="342900" indent="-342900">
              <a:buSzPct val="100000"/>
              <a:buChar char="•"/>
            </a:pPr>
            <a:r>
              <a:rPr lang="en-US" sz="14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logs for suspicious behavior</a:t>
            </a:r>
            <a:endParaRPr lang="en-US" sz="1420" dirty="0"/>
          </a:p>
          <a:p>
            <a:pPr marL="342900" indent="-342900">
              <a:buSzPct val="100000"/>
              <a:buChar char="•"/>
            </a:pPr>
            <a:r>
              <a:rPr lang="en-US" sz="14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dependency and secret scanning</a:t>
            </a:r>
            <a:endParaRPr lang="en-US" sz="1420" dirty="0"/>
          </a:p>
          <a:p>
            <a:pPr marL="342900" indent="-342900">
              <a:buSzPct val="100000"/>
              <a:buChar char="•"/>
            </a:pPr>
            <a:r>
              <a:rPr lang="en-US" sz="142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and restore drills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777240" y="409651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96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becomes an operational habit, not a checklist before launch.</a:t>
            </a:r>
            <a:endParaRPr lang="en-US" sz="14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7 - Application Scalability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at Multi-Region and Global Scale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626864"/>
            <a:ext cx="8229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091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43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2514600" cy="420624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307592"/>
            <a:ext cx="2386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5257800" cy="420624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64408" y="1307592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Changes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1655064"/>
            <a:ext cx="2514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728216"/>
            <a:ext cx="2386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0" y="1655064"/>
            <a:ext cx="5257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1728216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laws may vary by region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2075688"/>
            <a:ext cx="2514600" cy="420624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148840"/>
            <a:ext cx="2386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boundaries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0" y="2075688"/>
            <a:ext cx="5257800" cy="420624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4408" y="2148840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and permissions span more environments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2496312"/>
            <a:ext cx="2514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2569464"/>
            <a:ext cx="2386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and bots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0" y="2496312"/>
            <a:ext cx="5257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2569464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 can arrive from anywhere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5800" y="2916936"/>
            <a:ext cx="2514600" cy="420624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990088"/>
            <a:ext cx="2386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rotation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00400" y="2916936"/>
            <a:ext cx="5257800" cy="420624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64408" y="2990088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exist in more places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" y="3337560"/>
            <a:ext cx="2514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3410712"/>
            <a:ext cx="2386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00400" y="3337560"/>
            <a:ext cx="5257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64408" y="3410712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must survive regional outages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77240" y="409651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6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larger the system, the more security depends on design and automation.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7 - Application Scalability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Scaling Tradeoffs Architects Face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626864"/>
            <a:ext cx="8229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091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43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2743200" cy="429768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43584"/>
            <a:ext cx="26151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3246120" y="1170432"/>
            <a:ext cx="5394960" cy="429768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1243584"/>
            <a:ext cx="52669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Hard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502920" y="1600200"/>
            <a:ext cx="27432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673352"/>
            <a:ext cx="26151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vs. consistency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3246120" y="1600200"/>
            <a:ext cx="53949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673352"/>
            <a:ext cx="52669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local reads can conflict with globally correct data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502920" y="2029968"/>
            <a:ext cx="2743200" cy="429768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103120"/>
            <a:ext cx="26151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vs. cost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3246120" y="2029968"/>
            <a:ext cx="5394960" cy="429768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2103120"/>
            <a:ext cx="52669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regions and redundancy are not free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502920" y="2459736"/>
            <a:ext cx="27432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532888"/>
            <a:ext cx="26151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vs. governance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3246120" y="2459736"/>
            <a:ext cx="53949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2532888"/>
            <a:ext cx="52669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move faster with freedom but need shared guardrails</a:t>
            </a:r>
            <a:endParaRPr lang="en-US" sz="1070" dirty="0"/>
          </a:p>
        </p:txBody>
      </p:sp>
      <p:sp>
        <p:nvSpPr>
          <p:cNvPr id="23" name="Shape 21"/>
          <p:cNvSpPr/>
          <p:nvPr/>
        </p:nvSpPr>
        <p:spPr>
          <a:xfrm>
            <a:off x="502920" y="2889504"/>
            <a:ext cx="2743200" cy="429768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2962656"/>
            <a:ext cx="26151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vs. usability</a:t>
            </a:r>
            <a:endParaRPr lang="en-US" sz="1070" dirty="0"/>
          </a:p>
        </p:txBody>
      </p:sp>
      <p:sp>
        <p:nvSpPr>
          <p:cNvPr id="25" name="Shape 23"/>
          <p:cNvSpPr/>
          <p:nvPr/>
        </p:nvSpPr>
        <p:spPr>
          <a:xfrm>
            <a:off x="3246120" y="2889504"/>
            <a:ext cx="5394960" cy="429768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2962656"/>
            <a:ext cx="52669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controls can slow delivery if poorly designed</a:t>
            </a:r>
            <a:endParaRPr lang="en-US" sz="1070" dirty="0"/>
          </a:p>
        </p:txBody>
      </p:sp>
      <p:sp>
        <p:nvSpPr>
          <p:cNvPr id="27" name="Shape 25"/>
          <p:cNvSpPr/>
          <p:nvPr/>
        </p:nvSpPr>
        <p:spPr>
          <a:xfrm>
            <a:off x="502920" y="3319272"/>
            <a:ext cx="27432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392424"/>
            <a:ext cx="26151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vs. blast radius</a:t>
            </a:r>
            <a:endParaRPr lang="en-US" sz="1070" dirty="0"/>
          </a:p>
        </p:txBody>
      </p:sp>
      <p:sp>
        <p:nvSpPr>
          <p:cNvPr id="29" name="Shape 27"/>
          <p:cNvSpPr/>
          <p:nvPr/>
        </p:nvSpPr>
        <p:spPr>
          <a:xfrm>
            <a:off x="3246120" y="3319272"/>
            <a:ext cx="53949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0128" y="3392424"/>
            <a:ext cx="52669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mistakes can scale too</a:t>
            </a:r>
            <a:endParaRPr lang="en-US" sz="1070" dirty="0"/>
          </a:p>
        </p:txBody>
      </p:sp>
      <p:sp>
        <p:nvSpPr>
          <p:cNvPr id="31" name="Text 29"/>
          <p:cNvSpPr/>
          <p:nvPr/>
        </p:nvSpPr>
        <p:spPr>
          <a:xfrm>
            <a:off x="777240" y="409651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B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architecture makes tradeoffs visible before they become emergencies.</a:t>
            </a:r>
            <a:endParaRPr lang="en-US" sz="14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" cy="5143500"/>
          </a:xfrm>
          <a:prstGeom prst="rect">
            <a:avLst/>
          </a:prstGeom>
          <a:solidFill>
            <a:srgbClr val="D96C4B"/>
          </a:solidFill>
          <a:ln w="12700">
            <a:solidFill>
              <a:srgbClr val="D96C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325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9DD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7955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Applying This to Student Projects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44988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4988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43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7 - Application Scalability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TaskBoard Evolution Path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626864"/>
            <a:ext cx="8229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091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43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2103120" cy="420624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307592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110" dirty="0"/>
          </a:p>
        </p:txBody>
      </p:sp>
      <p:sp>
        <p:nvSpPr>
          <p:cNvPr id="9" name="Shape 7"/>
          <p:cNvSpPr/>
          <p:nvPr/>
        </p:nvSpPr>
        <p:spPr>
          <a:xfrm>
            <a:off x="2697480" y="1234440"/>
            <a:ext cx="5852160" cy="420624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61488" y="1307592"/>
            <a:ext cx="5724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TaskBoard Shape</a:t>
            </a:r>
            <a:endParaRPr lang="en-US" sz="1110" dirty="0"/>
          </a:p>
        </p:txBody>
      </p:sp>
      <p:sp>
        <p:nvSpPr>
          <p:cNvPr id="11" name="Shape 9"/>
          <p:cNvSpPr/>
          <p:nvPr/>
        </p:nvSpPr>
        <p:spPr>
          <a:xfrm>
            <a:off x="594360" y="1655064"/>
            <a:ext cx="2103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728216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110" dirty="0"/>
          </a:p>
        </p:txBody>
      </p:sp>
      <p:sp>
        <p:nvSpPr>
          <p:cNvPr id="13" name="Shape 11"/>
          <p:cNvSpPr/>
          <p:nvPr/>
        </p:nvSpPr>
        <p:spPr>
          <a:xfrm>
            <a:off x="2697480" y="1655064"/>
            <a:ext cx="5852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61488" y="1728216"/>
            <a:ext cx="5724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Express, and Postgres run locally or in Compose</a:t>
            </a:r>
            <a:endParaRPr lang="en-US" sz="1110" dirty="0"/>
          </a:p>
        </p:txBody>
      </p:sp>
      <p:sp>
        <p:nvSpPr>
          <p:cNvPr id="15" name="Shape 13"/>
          <p:cNvSpPr/>
          <p:nvPr/>
        </p:nvSpPr>
        <p:spPr>
          <a:xfrm>
            <a:off x="594360" y="2075688"/>
            <a:ext cx="2103120" cy="420624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148840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</a:t>
            </a:r>
            <a:endParaRPr lang="en-US" sz="1110" dirty="0"/>
          </a:p>
        </p:txBody>
      </p:sp>
      <p:sp>
        <p:nvSpPr>
          <p:cNvPr id="17" name="Shape 15"/>
          <p:cNvSpPr/>
          <p:nvPr/>
        </p:nvSpPr>
        <p:spPr>
          <a:xfrm>
            <a:off x="2697480" y="2075688"/>
            <a:ext cx="5852160" cy="420624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61488" y="2148840"/>
            <a:ext cx="5724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on Vercel, API on Render, Postgres in one region</a:t>
            </a:r>
            <a:endParaRPr lang="en-US" sz="1110" dirty="0"/>
          </a:p>
        </p:txBody>
      </p:sp>
      <p:sp>
        <p:nvSpPr>
          <p:cNvPr id="19" name="Shape 17"/>
          <p:cNvSpPr/>
          <p:nvPr/>
        </p:nvSpPr>
        <p:spPr>
          <a:xfrm>
            <a:off x="594360" y="2496312"/>
            <a:ext cx="2103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2569464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Multi-instance</a:t>
            </a:r>
            <a:endParaRPr lang="en-US" sz="1110" dirty="0"/>
          </a:p>
        </p:txBody>
      </p:sp>
      <p:sp>
        <p:nvSpPr>
          <p:cNvPr id="21" name="Shape 19"/>
          <p:cNvSpPr/>
          <p:nvPr/>
        </p:nvSpPr>
        <p:spPr>
          <a:xfrm>
            <a:off x="2697480" y="2496312"/>
            <a:ext cx="5852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61488" y="2569464"/>
            <a:ext cx="5724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scales horizontally behind the platform router</a:t>
            </a:r>
            <a:endParaRPr lang="en-US" sz="1110" dirty="0"/>
          </a:p>
        </p:txBody>
      </p:sp>
      <p:sp>
        <p:nvSpPr>
          <p:cNvPr id="23" name="Shape 21"/>
          <p:cNvSpPr/>
          <p:nvPr/>
        </p:nvSpPr>
        <p:spPr>
          <a:xfrm>
            <a:off x="594360" y="2916936"/>
            <a:ext cx="2103120" cy="420624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990088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Multi-regional</a:t>
            </a:r>
            <a:endParaRPr lang="en-US" sz="1110" dirty="0"/>
          </a:p>
        </p:txBody>
      </p:sp>
      <p:sp>
        <p:nvSpPr>
          <p:cNvPr id="25" name="Shape 23"/>
          <p:cNvSpPr/>
          <p:nvPr/>
        </p:nvSpPr>
        <p:spPr>
          <a:xfrm>
            <a:off x="2697480" y="2916936"/>
            <a:ext cx="5852160" cy="420624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61488" y="2990088"/>
            <a:ext cx="5724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replicas, regional routing, replicated object storage</a:t>
            </a:r>
            <a:endParaRPr lang="en-US" sz="1110" dirty="0"/>
          </a:p>
        </p:txBody>
      </p:sp>
      <p:sp>
        <p:nvSpPr>
          <p:cNvPr id="27" name="Shape 25"/>
          <p:cNvSpPr/>
          <p:nvPr/>
        </p:nvSpPr>
        <p:spPr>
          <a:xfrm>
            <a:off x="594360" y="3337560"/>
            <a:ext cx="2103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3410712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110" dirty="0"/>
          </a:p>
        </p:txBody>
      </p:sp>
      <p:sp>
        <p:nvSpPr>
          <p:cNvPr id="29" name="Shape 27"/>
          <p:cNvSpPr/>
          <p:nvPr/>
        </p:nvSpPr>
        <p:spPr>
          <a:xfrm>
            <a:off x="2697480" y="3337560"/>
            <a:ext cx="5852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61488" y="3410712"/>
            <a:ext cx="5724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CDN, edge security, global observability, compliance boundaries</a:t>
            </a:r>
            <a:endParaRPr lang="en-US" sz="1110" dirty="0"/>
          </a:p>
        </p:txBody>
      </p:sp>
      <p:sp>
        <p:nvSpPr>
          <p:cNvPr id="31" name="Text 29"/>
          <p:cNvSpPr/>
          <p:nvPr/>
        </p:nvSpPr>
        <p:spPr>
          <a:xfrm>
            <a:off x="685800" y="40965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D96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project probably stops at regional. Your design choices should not block the next step.</a:t>
            </a:r>
            <a:endParaRPr lang="en-US" sz="138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7 - Application Scalability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Checklist for This Week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626864"/>
            <a:ext cx="8229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091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43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7772400" cy="2743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anything stored on local disk or in server memory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verify a health endpoint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casual logging with structured logging in key routes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database and uploads are external services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local setup and deployment steps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billing alerts for paid cloud accounts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whether Docker Compose would reduce setup friction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41605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7D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 operational quality work. It makes the demo less fragile.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7 - Application Scalability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Opus 4.7 Cross-Reference Lens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626864"/>
            <a:ext cx="8229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091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43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2926080" cy="420624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307592"/>
            <a:ext cx="2798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</a:t>
            </a:r>
            <a:endParaRPr lang="en-US" sz="1090" dirty="0"/>
          </a:p>
        </p:txBody>
      </p:sp>
      <p:sp>
        <p:nvSpPr>
          <p:cNvPr id="9" name="Shape 7"/>
          <p:cNvSpPr/>
          <p:nvPr/>
        </p:nvSpPr>
        <p:spPr>
          <a:xfrm>
            <a:off x="3520440" y="1234440"/>
            <a:ext cx="5029200" cy="420624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84448" y="1307592"/>
            <a:ext cx="4901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Coverage</a:t>
            </a:r>
            <a:endParaRPr lang="en-US" sz="1090" dirty="0"/>
          </a:p>
        </p:txBody>
      </p:sp>
      <p:sp>
        <p:nvSpPr>
          <p:cNvPr id="11" name="Shape 9"/>
          <p:cNvSpPr/>
          <p:nvPr/>
        </p:nvSpPr>
        <p:spPr>
          <a:xfrm>
            <a:off x="594360" y="1655064"/>
            <a:ext cx="29260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728216"/>
            <a:ext cx="2798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student workflow</a:t>
            </a:r>
            <a:endParaRPr lang="en-US" sz="1090" dirty="0"/>
          </a:p>
        </p:txBody>
      </p:sp>
      <p:sp>
        <p:nvSpPr>
          <p:cNvPr id="13" name="Shape 11"/>
          <p:cNvSpPr/>
          <p:nvPr/>
        </p:nvSpPr>
        <p:spPr>
          <a:xfrm>
            <a:off x="3520440" y="1655064"/>
            <a:ext cx="5029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84448" y="1728216"/>
            <a:ext cx="4901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to regional project checklist</a:t>
            </a:r>
            <a:endParaRPr lang="en-US" sz="1090" dirty="0"/>
          </a:p>
        </p:txBody>
      </p:sp>
      <p:sp>
        <p:nvSpPr>
          <p:cNvPr id="15" name="Shape 13"/>
          <p:cNvSpPr/>
          <p:nvPr/>
        </p:nvSpPr>
        <p:spPr>
          <a:xfrm>
            <a:off x="594360" y="2075688"/>
            <a:ext cx="2926080" cy="420624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148840"/>
            <a:ext cx="2798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1090" dirty="0"/>
          </a:p>
        </p:txBody>
      </p:sp>
      <p:sp>
        <p:nvSpPr>
          <p:cNvPr id="17" name="Shape 15"/>
          <p:cNvSpPr/>
          <p:nvPr/>
        </p:nvSpPr>
        <p:spPr>
          <a:xfrm>
            <a:off x="3520440" y="2075688"/>
            <a:ext cx="5029200" cy="420624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84448" y="2148840"/>
            <a:ext cx="4901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center, cloud, regions, global systems</a:t>
            </a:r>
            <a:endParaRPr lang="en-US" sz="1090" dirty="0"/>
          </a:p>
        </p:txBody>
      </p:sp>
      <p:sp>
        <p:nvSpPr>
          <p:cNvPr id="19" name="Shape 17"/>
          <p:cNvSpPr/>
          <p:nvPr/>
        </p:nvSpPr>
        <p:spPr>
          <a:xfrm>
            <a:off x="594360" y="2496312"/>
            <a:ext cx="29260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2569464"/>
            <a:ext cx="2798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engineering topics</a:t>
            </a:r>
            <a:endParaRPr lang="en-US" sz="1090" dirty="0"/>
          </a:p>
        </p:txBody>
      </p:sp>
      <p:sp>
        <p:nvSpPr>
          <p:cNvPr id="21" name="Shape 19"/>
          <p:cNvSpPr/>
          <p:nvPr/>
        </p:nvSpPr>
        <p:spPr>
          <a:xfrm>
            <a:off x="3520440" y="2496312"/>
            <a:ext cx="5029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84448" y="2569464"/>
            <a:ext cx="4901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Scaling, compute models, observability, IaC</a:t>
            </a:r>
            <a:endParaRPr lang="en-US" sz="1090" dirty="0"/>
          </a:p>
        </p:txBody>
      </p:sp>
      <p:sp>
        <p:nvSpPr>
          <p:cNvPr id="23" name="Shape 21"/>
          <p:cNvSpPr/>
          <p:nvPr/>
        </p:nvSpPr>
        <p:spPr>
          <a:xfrm>
            <a:off x="594360" y="2916936"/>
            <a:ext cx="2926080" cy="420624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990088"/>
            <a:ext cx="2798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AI-era verification mindset</a:t>
            </a:r>
            <a:endParaRPr lang="en-US" sz="1090" dirty="0"/>
          </a:p>
        </p:txBody>
      </p:sp>
      <p:sp>
        <p:nvSpPr>
          <p:cNvPr id="25" name="Shape 23"/>
          <p:cNvSpPr/>
          <p:nvPr/>
        </p:nvSpPr>
        <p:spPr>
          <a:xfrm>
            <a:off x="3520440" y="2916936"/>
            <a:ext cx="5029200" cy="420624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84448" y="2990088"/>
            <a:ext cx="4901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setup, logs, health checks, reviewable infra</a:t>
            </a:r>
            <a:endParaRPr lang="en-US" sz="1090" dirty="0"/>
          </a:p>
        </p:txBody>
      </p:sp>
      <p:sp>
        <p:nvSpPr>
          <p:cNvPr id="27" name="Shape 25"/>
          <p:cNvSpPr/>
          <p:nvPr/>
        </p:nvSpPr>
        <p:spPr>
          <a:xfrm>
            <a:off x="594360" y="3337560"/>
            <a:ext cx="29260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3410712"/>
            <a:ext cx="2798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as design</a:t>
            </a:r>
            <a:endParaRPr lang="en-US" sz="1090" dirty="0"/>
          </a:p>
        </p:txBody>
      </p:sp>
      <p:sp>
        <p:nvSpPr>
          <p:cNvPr id="29" name="Shape 27"/>
          <p:cNvSpPr/>
          <p:nvPr/>
        </p:nvSpPr>
        <p:spPr>
          <a:xfrm>
            <a:off x="3520440" y="3337560"/>
            <a:ext cx="5029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84448" y="3410712"/>
            <a:ext cx="4901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Secrets, least privilege, edge protection, compliance</a:t>
            </a:r>
            <a:endParaRPr lang="en-US" sz="1090" dirty="0"/>
          </a:p>
        </p:txBody>
      </p:sp>
      <p:sp>
        <p:nvSpPr>
          <p:cNvPr id="31" name="Text 29"/>
          <p:cNvSpPr/>
          <p:nvPr/>
        </p:nvSpPr>
        <p:spPr>
          <a:xfrm>
            <a:off x="777240" y="409651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6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deck intentionally favors architectural judgment over code mechanics.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7 - Application Scalability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626864"/>
            <a:ext cx="8229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091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394 - DePaul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43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2423160" cy="429768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43584"/>
            <a:ext cx="22951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26080" y="1170432"/>
            <a:ext cx="5715000" cy="429768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0088" y="1243584"/>
            <a:ext cx="5586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1600200"/>
            <a:ext cx="24231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673352"/>
            <a:ext cx="22951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26080" y="1600200"/>
            <a:ext cx="57150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90088" y="1673352"/>
            <a:ext cx="5586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capacity only helps if state is designed correctly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029968"/>
            <a:ext cx="2423160" cy="429768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103120"/>
            <a:ext cx="22951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vs. horizontal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26080" y="2029968"/>
            <a:ext cx="5715000" cy="429768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90088" y="2103120"/>
            <a:ext cx="5586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up for simplicity, scale out for resilience and growth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2459736"/>
            <a:ext cx="24231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532888"/>
            <a:ext cx="22951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models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926080" y="2459736"/>
            <a:ext cx="57150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90088" y="2532888"/>
            <a:ext cx="5586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 maximize control, PaaS maximizes speed, containers improve portability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2889504"/>
            <a:ext cx="2423160" cy="429768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2962656"/>
            <a:ext cx="22951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926080" y="2889504"/>
            <a:ext cx="5715000" cy="429768"/>
          </a:xfrm>
          <a:prstGeom prst="rect">
            <a:avLst/>
          </a:prstGeom>
          <a:solidFill>
            <a:srgbClr val="EEF4F8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0088" y="2962656"/>
            <a:ext cx="5586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metrics, and traces replace guessing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3319272"/>
            <a:ext cx="24231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392424"/>
            <a:ext cx="22951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926080" y="3319272"/>
            <a:ext cx="57150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90088" y="3392424"/>
            <a:ext cx="5586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instances and regions require stronger automation and boundaries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77240" y="409651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6F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week: security, performance, and technical debt.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DePaul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7 - Application Scalability</dc:title>
  <dc:subject>Application scalability from data center to global cloud</dc:subject>
  <dc:creator>CSC 394</dc:creator>
  <cp:lastModifiedBy>CSC 394</cp:lastModifiedBy>
  <cp:revision>1</cp:revision>
  <dcterms:created xsi:type="dcterms:W3CDTF">2026-05-13T19:00:04Z</dcterms:created>
  <dcterms:modified xsi:type="dcterms:W3CDTF">2026-05-13T19:00:04Z</dcterms:modified>
</cp:coreProperties>
</file>